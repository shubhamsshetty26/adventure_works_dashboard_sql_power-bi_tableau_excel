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Lora" pitchFamily="2" charset="0"/>
      <p:regular r:id="rId16"/>
    </p:embeddedFont>
    <p:embeddedFont>
      <p:font typeface="Lora Bold" charset="0"/>
      <p:regular r:id="rId17"/>
    </p:embeddedFont>
    <p:embeddedFont>
      <p:font typeface="Now" panose="020B0604020202020204" charset="0"/>
      <p:regular r:id="rId18"/>
    </p:embeddedFont>
    <p:embeddedFont>
      <p:font typeface="Now Bold" panose="020B0604020202020204" charset="0"/>
      <p:regular r:id="rId19"/>
    </p:embeddedFont>
    <p:embeddedFont>
      <p:font typeface="Roca One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12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12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5651">
            <a:off x="-374163" y="7063110"/>
            <a:ext cx="3363430" cy="4223485"/>
          </a:xfrm>
          <a:custGeom>
            <a:avLst/>
            <a:gdLst/>
            <a:ahLst/>
            <a:cxnLst/>
            <a:rect l="l" t="t" r="r" b="b"/>
            <a:pathLst>
              <a:path w="3363430" h="4223485">
                <a:moveTo>
                  <a:pt x="0" y="0"/>
                </a:moveTo>
                <a:lnTo>
                  <a:pt x="3363430" y="0"/>
                </a:lnTo>
                <a:lnTo>
                  <a:pt x="3363430" y="4223485"/>
                </a:lnTo>
                <a:lnTo>
                  <a:pt x="0" y="4223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3469">
            <a:off x="699475" y="1272652"/>
            <a:ext cx="16255606" cy="7982552"/>
            <a:chOff x="0" y="0"/>
            <a:chExt cx="4281312" cy="21024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81312" cy="2102401"/>
            </a:xfrm>
            <a:custGeom>
              <a:avLst/>
              <a:gdLst/>
              <a:ahLst/>
              <a:cxnLst/>
              <a:rect l="l" t="t" r="r" b="b"/>
              <a:pathLst>
                <a:path w="4281312" h="2102401">
                  <a:moveTo>
                    <a:pt x="0" y="0"/>
                  </a:moveTo>
                  <a:lnTo>
                    <a:pt x="4281312" y="0"/>
                  </a:lnTo>
                  <a:lnTo>
                    <a:pt x="4281312" y="2102401"/>
                  </a:lnTo>
                  <a:lnTo>
                    <a:pt x="0" y="2102401"/>
                  </a:ln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4281312" cy="2073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53988">
            <a:off x="13519037" y="3915441"/>
            <a:ext cx="5448532" cy="4937732"/>
          </a:xfrm>
          <a:custGeom>
            <a:avLst/>
            <a:gdLst/>
            <a:ahLst/>
            <a:cxnLst/>
            <a:rect l="l" t="t" r="r" b="b"/>
            <a:pathLst>
              <a:path w="5448532" h="4937732">
                <a:moveTo>
                  <a:pt x="0" y="0"/>
                </a:moveTo>
                <a:lnTo>
                  <a:pt x="5448532" y="0"/>
                </a:lnTo>
                <a:lnTo>
                  <a:pt x="5448532" y="4937732"/>
                </a:lnTo>
                <a:lnTo>
                  <a:pt x="0" y="493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799252">
            <a:off x="-648845" y="-154798"/>
            <a:ext cx="3658709" cy="1234814"/>
          </a:xfrm>
          <a:custGeom>
            <a:avLst/>
            <a:gdLst/>
            <a:ahLst/>
            <a:cxnLst/>
            <a:rect l="l" t="t" r="r" b="b"/>
            <a:pathLst>
              <a:path w="3658709" h="1234814">
                <a:moveTo>
                  <a:pt x="0" y="0"/>
                </a:moveTo>
                <a:lnTo>
                  <a:pt x="3658709" y="0"/>
                </a:lnTo>
                <a:lnTo>
                  <a:pt x="3658709" y="1234814"/>
                </a:lnTo>
                <a:lnTo>
                  <a:pt x="0" y="1234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16278">
            <a:off x="10442914" y="8763903"/>
            <a:ext cx="3829835" cy="988794"/>
          </a:xfrm>
          <a:custGeom>
            <a:avLst/>
            <a:gdLst/>
            <a:ahLst/>
            <a:cxnLst/>
            <a:rect l="l" t="t" r="r" b="b"/>
            <a:pathLst>
              <a:path w="3829835" h="988794">
                <a:moveTo>
                  <a:pt x="0" y="0"/>
                </a:moveTo>
                <a:lnTo>
                  <a:pt x="3829835" y="0"/>
                </a:lnTo>
                <a:lnTo>
                  <a:pt x="3829835" y="988794"/>
                </a:lnTo>
                <a:lnTo>
                  <a:pt x="0" y="988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262115">
            <a:off x="11282301" y="2160614"/>
            <a:ext cx="7354870" cy="5852290"/>
            <a:chOff x="0" y="0"/>
            <a:chExt cx="1021487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1487" cy="812800"/>
            </a:xfrm>
            <a:custGeom>
              <a:avLst/>
              <a:gdLst/>
              <a:ahLst/>
              <a:cxnLst/>
              <a:rect l="l" t="t" r="r" b="b"/>
              <a:pathLst>
                <a:path w="1021487" h="812800">
                  <a:moveTo>
                    <a:pt x="0" y="0"/>
                  </a:moveTo>
                  <a:lnTo>
                    <a:pt x="1021487" y="0"/>
                  </a:lnTo>
                  <a:lnTo>
                    <a:pt x="102148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021487" cy="784225"/>
            </a:xfrm>
            <a:prstGeom prst="rect">
              <a:avLst/>
            </a:prstGeom>
          </p:spPr>
          <p:txBody>
            <a:bodyPr lIns="52802" tIns="52802" rIns="52802" bIns="52802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74619">
            <a:off x="11570764" y="2466396"/>
            <a:ext cx="7079319" cy="5277879"/>
            <a:chOff x="0" y="0"/>
            <a:chExt cx="1090224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224" cy="812800"/>
            </a:xfrm>
            <a:custGeom>
              <a:avLst/>
              <a:gdLst/>
              <a:ahLst/>
              <a:cxnLst/>
              <a:rect l="l" t="t" r="r" b="b"/>
              <a:pathLst>
                <a:path w="1090224" h="812800">
                  <a:moveTo>
                    <a:pt x="0" y="0"/>
                  </a:moveTo>
                  <a:lnTo>
                    <a:pt x="1090224" y="0"/>
                  </a:lnTo>
                  <a:lnTo>
                    <a:pt x="109022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t="-234" b="-234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1450879">
            <a:off x="16607390" y="1094854"/>
            <a:ext cx="839984" cy="1957590"/>
          </a:xfrm>
          <a:custGeom>
            <a:avLst/>
            <a:gdLst/>
            <a:ahLst/>
            <a:cxnLst/>
            <a:rect l="l" t="t" r="r" b="b"/>
            <a:pathLst>
              <a:path w="839984" h="1957590">
                <a:moveTo>
                  <a:pt x="0" y="0"/>
                </a:moveTo>
                <a:lnTo>
                  <a:pt x="839984" y="0"/>
                </a:lnTo>
                <a:lnTo>
                  <a:pt x="839984" y="1957590"/>
                </a:lnTo>
                <a:lnTo>
                  <a:pt x="0" y="1957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633632" y="2417956"/>
            <a:ext cx="9451844" cy="5691943"/>
            <a:chOff x="0" y="0"/>
            <a:chExt cx="12602458" cy="758925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61925"/>
              <a:ext cx="12602458" cy="471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00"/>
                </a:lnSpc>
              </a:pPr>
              <a:r>
                <a:rPr lang="en-US" sz="9000" b="1" dirty="0">
                  <a:solidFill>
                    <a:srgbClr val="FFF6ED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 Adventure Works Sales Analysis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950832"/>
              <a:ext cx="10995665" cy="2638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 dirty="0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      Data Analyst Internship Program- </a:t>
              </a:r>
              <a:r>
                <a:rPr lang="en-US" sz="3000" dirty="0" err="1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ExcelR</a:t>
              </a:r>
              <a:endParaRPr lang="en-US" sz="3000" dirty="0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3900"/>
                </a:lnSpc>
              </a:pPr>
              <a:r>
                <a:rPr lang="en-US" sz="3000" dirty="0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      Date: 30 /3/2026</a:t>
              </a:r>
            </a:p>
            <a:p>
              <a:pPr algn="l">
                <a:lnSpc>
                  <a:spcPts val="3900"/>
                </a:lnSpc>
              </a:pPr>
              <a:r>
                <a:rPr lang="en-US" sz="3000" dirty="0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      Group - 3</a:t>
              </a:r>
            </a:p>
            <a:p>
              <a:pPr marL="0" lvl="0" indent="0" algn="l">
                <a:lnSpc>
                  <a:spcPts val="3900"/>
                </a:lnSpc>
              </a:pPr>
              <a:endParaRPr lang="en-US" sz="3000" dirty="0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329893">
            <a:off x="2083007" y="1027757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4" y="0"/>
                </a:lnTo>
                <a:lnTo>
                  <a:pt x="3423594" y="883910"/>
                </a:lnTo>
                <a:lnTo>
                  <a:pt x="0" y="883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89305">
            <a:off x="16825028" y="1429891"/>
            <a:ext cx="3870256" cy="2322153"/>
          </a:xfrm>
          <a:custGeom>
            <a:avLst/>
            <a:gdLst/>
            <a:ahLst/>
            <a:cxnLst/>
            <a:rect l="l" t="t" r="r" b="b"/>
            <a:pathLst>
              <a:path w="3870256" h="2322153">
                <a:moveTo>
                  <a:pt x="0" y="0"/>
                </a:moveTo>
                <a:lnTo>
                  <a:pt x="3870255" y="0"/>
                </a:lnTo>
                <a:lnTo>
                  <a:pt x="3870255" y="2322153"/>
                </a:lnTo>
                <a:lnTo>
                  <a:pt x="0" y="2322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40080" y="5143500"/>
            <a:ext cx="2482277" cy="837768"/>
          </a:xfrm>
          <a:custGeom>
            <a:avLst/>
            <a:gdLst/>
            <a:ahLst/>
            <a:cxnLst/>
            <a:rect l="l" t="t" r="r" b="b"/>
            <a:pathLst>
              <a:path w="2482277" h="837768">
                <a:moveTo>
                  <a:pt x="0" y="0"/>
                </a:moveTo>
                <a:lnTo>
                  <a:pt x="2482277" y="0"/>
                </a:lnTo>
                <a:lnTo>
                  <a:pt x="2482277" y="837768"/>
                </a:lnTo>
                <a:lnTo>
                  <a:pt x="0" y="837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935705">
            <a:off x="17055529" y="-597206"/>
            <a:ext cx="2818696" cy="3539458"/>
          </a:xfrm>
          <a:custGeom>
            <a:avLst/>
            <a:gdLst/>
            <a:ahLst/>
            <a:cxnLst/>
            <a:rect l="l" t="t" r="r" b="b"/>
            <a:pathLst>
              <a:path w="2818696" h="3539458">
                <a:moveTo>
                  <a:pt x="0" y="0"/>
                </a:moveTo>
                <a:lnTo>
                  <a:pt x="2818696" y="0"/>
                </a:lnTo>
                <a:lnTo>
                  <a:pt x="2818696" y="3539458"/>
                </a:lnTo>
                <a:lnTo>
                  <a:pt x="0" y="3539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282823">
            <a:off x="15367039" y="7622175"/>
            <a:ext cx="3163993" cy="4328846"/>
          </a:xfrm>
          <a:custGeom>
            <a:avLst/>
            <a:gdLst/>
            <a:ahLst/>
            <a:cxnLst/>
            <a:rect l="l" t="t" r="r" b="b"/>
            <a:pathLst>
              <a:path w="3163993" h="4328846">
                <a:moveTo>
                  <a:pt x="0" y="0"/>
                </a:moveTo>
                <a:lnTo>
                  <a:pt x="3163994" y="0"/>
                </a:lnTo>
                <a:lnTo>
                  <a:pt x="3163994" y="4328846"/>
                </a:lnTo>
                <a:lnTo>
                  <a:pt x="0" y="4328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00365" y="8485864"/>
            <a:ext cx="5251977" cy="4759605"/>
          </a:xfrm>
          <a:custGeom>
            <a:avLst/>
            <a:gdLst/>
            <a:ahLst/>
            <a:cxnLst/>
            <a:rect l="l" t="t" r="r" b="b"/>
            <a:pathLst>
              <a:path w="5251977" h="4759605">
                <a:moveTo>
                  <a:pt x="0" y="0"/>
                </a:moveTo>
                <a:lnTo>
                  <a:pt x="5251978" y="0"/>
                </a:lnTo>
                <a:lnTo>
                  <a:pt x="5251978" y="4759604"/>
                </a:lnTo>
                <a:lnTo>
                  <a:pt x="0" y="475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270180" y="3700708"/>
            <a:ext cx="7292917" cy="4209693"/>
            <a:chOff x="0" y="0"/>
            <a:chExt cx="1742040" cy="10055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42041" cy="1005559"/>
            </a:xfrm>
            <a:custGeom>
              <a:avLst/>
              <a:gdLst/>
              <a:ahLst/>
              <a:cxnLst/>
              <a:rect l="l" t="t" r="r" b="b"/>
              <a:pathLst>
                <a:path w="1742041" h="1005559">
                  <a:moveTo>
                    <a:pt x="12739" y="0"/>
                  </a:moveTo>
                  <a:lnTo>
                    <a:pt x="1729302" y="0"/>
                  </a:lnTo>
                  <a:cubicBezTo>
                    <a:pt x="1736337" y="0"/>
                    <a:pt x="1742041" y="5703"/>
                    <a:pt x="1742041" y="12739"/>
                  </a:cubicBezTo>
                  <a:lnTo>
                    <a:pt x="1742041" y="992820"/>
                  </a:lnTo>
                  <a:cubicBezTo>
                    <a:pt x="1742041" y="999855"/>
                    <a:pt x="1736337" y="1005559"/>
                    <a:pt x="1729302" y="1005559"/>
                  </a:cubicBezTo>
                  <a:lnTo>
                    <a:pt x="12739" y="1005559"/>
                  </a:lnTo>
                  <a:cubicBezTo>
                    <a:pt x="5703" y="1005559"/>
                    <a:pt x="0" y="999855"/>
                    <a:pt x="0" y="992820"/>
                  </a:cubicBezTo>
                  <a:lnTo>
                    <a:pt x="0" y="12739"/>
                  </a:lnTo>
                  <a:cubicBezTo>
                    <a:pt x="0" y="5703"/>
                    <a:pt x="5703" y="0"/>
                    <a:pt x="12739" y="0"/>
                  </a:cubicBez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742040" cy="1129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4903" y="3700708"/>
            <a:ext cx="7289524" cy="4209693"/>
            <a:chOff x="0" y="0"/>
            <a:chExt cx="1741230" cy="10055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1230" cy="1005559"/>
            </a:xfrm>
            <a:custGeom>
              <a:avLst/>
              <a:gdLst/>
              <a:ahLst/>
              <a:cxnLst/>
              <a:rect l="l" t="t" r="r" b="b"/>
              <a:pathLst>
                <a:path w="1741230" h="1005559">
                  <a:moveTo>
                    <a:pt x="12745" y="0"/>
                  </a:moveTo>
                  <a:lnTo>
                    <a:pt x="1728485" y="0"/>
                  </a:lnTo>
                  <a:cubicBezTo>
                    <a:pt x="1731866" y="0"/>
                    <a:pt x="1735107" y="1343"/>
                    <a:pt x="1737497" y="3733"/>
                  </a:cubicBezTo>
                  <a:cubicBezTo>
                    <a:pt x="1739887" y="6123"/>
                    <a:pt x="1741230" y="9365"/>
                    <a:pt x="1741230" y="12745"/>
                  </a:cubicBezTo>
                  <a:lnTo>
                    <a:pt x="1741230" y="992814"/>
                  </a:lnTo>
                  <a:cubicBezTo>
                    <a:pt x="1741230" y="996194"/>
                    <a:pt x="1739887" y="999436"/>
                    <a:pt x="1737497" y="1001826"/>
                  </a:cubicBezTo>
                  <a:cubicBezTo>
                    <a:pt x="1735107" y="1004216"/>
                    <a:pt x="1731866" y="1005559"/>
                    <a:pt x="1728485" y="1005559"/>
                  </a:cubicBezTo>
                  <a:lnTo>
                    <a:pt x="12745" y="1005559"/>
                  </a:lnTo>
                  <a:cubicBezTo>
                    <a:pt x="9365" y="1005559"/>
                    <a:pt x="6123" y="1004216"/>
                    <a:pt x="3733" y="1001826"/>
                  </a:cubicBezTo>
                  <a:cubicBezTo>
                    <a:pt x="1343" y="999436"/>
                    <a:pt x="0" y="996194"/>
                    <a:pt x="0" y="992814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23825"/>
              <a:ext cx="1741230" cy="1129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252552" y="3699092"/>
            <a:ext cx="7037069" cy="456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0051" lvl="1" indent="-325026" algn="just">
              <a:lnSpc>
                <a:spcPts val="3673"/>
              </a:lnSpc>
              <a:buFont typeface="Arial"/>
              <a:buChar char="•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 To support business decision-making by providing data-driven insights</a:t>
            </a:r>
          </a:p>
          <a:p>
            <a:pPr marL="650051" lvl="1" indent="-325026" algn="just">
              <a:lnSpc>
                <a:spcPts val="3673"/>
              </a:lnSpc>
              <a:buFont typeface="Arial"/>
              <a:buChar char="•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To identify opportunities for increasing revenue and reducing operational costs</a:t>
            </a:r>
          </a:p>
          <a:p>
            <a:pPr marL="650051" lvl="1" indent="-325026" algn="just">
              <a:lnSpc>
                <a:spcPts val="3673"/>
              </a:lnSpc>
              <a:buFont typeface="Arial"/>
              <a:buChar char="•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To improve overall sales performance by targeting high-value customers</a:t>
            </a:r>
          </a:p>
          <a:p>
            <a:pPr marL="0" lvl="0" indent="0" algn="just">
              <a:lnSpc>
                <a:spcPts val="3673"/>
              </a:lnSpc>
            </a:pPr>
            <a:endParaRPr lang="en-US" sz="3010">
              <a:solidFill>
                <a:srgbClr val="FFF6E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7211" y="3790440"/>
            <a:ext cx="7108855" cy="40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622" lvl="1" indent="-355811" algn="l">
              <a:lnSpc>
                <a:spcPts val="4021"/>
              </a:lnSpc>
              <a:buFont typeface="Arial"/>
              <a:buChar char="•"/>
            </a:pPr>
            <a:r>
              <a:rPr lang="en-US" sz="3296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To analyze historical sales data and identify trends and patterns in customer purchasing behavior</a:t>
            </a:r>
          </a:p>
          <a:p>
            <a:pPr marL="711622" lvl="1" indent="-355811" algn="l">
              <a:lnSpc>
                <a:spcPts val="4021"/>
              </a:lnSpc>
              <a:buFont typeface="Arial"/>
              <a:buChar char="•"/>
            </a:pPr>
            <a:r>
              <a:rPr lang="en-US" sz="3296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To determine the most profitable products, regions, and customer segments</a:t>
            </a:r>
          </a:p>
          <a:p>
            <a:pPr marL="0" lvl="0" indent="0" algn="l">
              <a:lnSpc>
                <a:spcPts val="4021"/>
              </a:lnSpc>
            </a:pPr>
            <a:endParaRPr lang="en-US" sz="3296">
              <a:solidFill>
                <a:srgbClr val="FFF6E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60054" y="7596340"/>
            <a:ext cx="668646" cy="2270094"/>
          </a:xfrm>
          <a:custGeom>
            <a:avLst/>
            <a:gdLst/>
            <a:ahLst/>
            <a:cxnLst/>
            <a:rect l="l" t="t" r="r" b="b"/>
            <a:pathLst>
              <a:path w="668646" h="2270094">
                <a:moveTo>
                  <a:pt x="0" y="0"/>
                </a:moveTo>
                <a:lnTo>
                  <a:pt x="668646" y="0"/>
                </a:lnTo>
                <a:lnTo>
                  <a:pt x="668646" y="2270093"/>
                </a:lnTo>
                <a:lnTo>
                  <a:pt x="0" y="2270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73341">
            <a:off x="-1064377" y="427372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4" y="0"/>
                </a:lnTo>
                <a:lnTo>
                  <a:pt x="3423594" y="883910"/>
                </a:lnTo>
                <a:lnTo>
                  <a:pt x="0" y="883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660342" y="1748063"/>
            <a:ext cx="12967317" cy="74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46"/>
              </a:lnSpc>
            </a:pPr>
            <a:r>
              <a:rPr lang="en-US" sz="5314" b="1">
                <a:solidFill>
                  <a:srgbClr val="FFF6ED"/>
                </a:solidFill>
                <a:latin typeface="Roca One Bold"/>
                <a:ea typeface="Roca One Bold"/>
                <a:cs typeface="Roca One Bold"/>
                <a:sym typeface="Roca One Bold"/>
              </a:rPr>
              <a:t> Business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73158" y="-775715"/>
            <a:ext cx="2490572" cy="3407499"/>
          </a:xfrm>
          <a:custGeom>
            <a:avLst/>
            <a:gdLst/>
            <a:ahLst/>
            <a:cxnLst/>
            <a:rect l="l" t="t" r="r" b="b"/>
            <a:pathLst>
              <a:path w="2490572" h="3407499">
                <a:moveTo>
                  <a:pt x="0" y="0"/>
                </a:moveTo>
                <a:lnTo>
                  <a:pt x="2490572" y="0"/>
                </a:lnTo>
                <a:lnTo>
                  <a:pt x="2490572" y="3407499"/>
                </a:lnTo>
                <a:lnTo>
                  <a:pt x="0" y="3407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90282" y="693781"/>
            <a:ext cx="16777495" cy="8899439"/>
            <a:chOff x="0" y="0"/>
            <a:chExt cx="4418764" cy="23438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18764" cy="2343885"/>
            </a:xfrm>
            <a:custGeom>
              <a:avLst/>
              <a:gdLst/>
              <a:ahLst/>
              <a:cxnLst/>
              <a:rect l="l" t="t" r="r" b="b"/>
              <a:pathLst>
                <a:path w="4418764" h="2343885">
                  <a:moveTo>
                    <a:pt x="18458" y="0"/>
                  </a:moveTo>
                  <a:lnTo>
                    <a:pt x="4400306" y="0"/>
                  </a:lnTo>
                  <a:cubicBezTo>
                    <a:pt x="4410500" y="0"/>
                    <a:pt x="4418764" y="8264"/>
                    <a:pt x="4418764" y="18458"/>
                  </a:cubicBezTo>
                  <a:lnTo>
                    <a:pt x="4418764" y="2325427"/>
                  </a:lnTo>
                  <a:cubicBezTo>
                    <a:pt x="4418764" y="2335621"/>
                    <a:pt x="4410500" y="2343885"/>
                    <a:pt x="4400306" y="2343885"/>
                  </a:cubicBezTo>
                  <a:lnTo>
                    <a:pt x="18458" y="2343885"/>
                  </a:lnTo>
                  <a:cubicBezTo>
                    <a:pt x="8264" y="2343885"/>
                    <a:pt x="0" y="2335621"/>
                    <a:pt x="0" y="2325427"/>
                  </a:cubicBezTo>
                  <a:lnTo>
                    <a:pt x="0" y="18458"/>
                  </a:lnTo>
                  <a:cubicBezTo>
                    <a:pt x="0" y="8264"/>
                    <a:pt x="8264" y="0"/>
                    <a:pt x="1845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4418764" cy="23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96391" y="4261638"/>
            <a:ext cx="13969510" cy="4996662"/>
            <a:chOff x="0" y="0"/>
            <a:chExt cx="3679212" cy="1315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79212" cy="1315993"/>
            </a:xfrm>
            <a:custGeom>
              <a:avLst/>
              <a:gdLst/>
              <a:ahLst/>
              <a:cxnLst/>
              <a:rect l="l" t="t" r="r" b="b"/>
              <a:pathLst>
                <a:path w="3679212" h="1315993">
                  <a:moveTo>
                    <a:pt x="22168" y="0"/>
                  </a:moveTo>
                  <a:lnTo>
                    <a:pt x="3657044" y="0"/>
                  </a:lnTo>
                  <a:cubicBezTo>
                    <a:pt x="3662924" y="0"/>
                    <a:pt x="3668562" y="2336"/>
                    <a:pt x="3672719" y="6493"/>
                  </a:cubicBezTo>
                  <a:cubicBezTo>
                    <a:pt x="3676877" y="10650"/>
                    <a:pt x="3679212" y="16289"/>
                    <a:pt x="3679212" y="22168"/>
                  </a:cubicBezTo>
                  <a:lnTo>
                    <a:pt x="3679212" y="1293825"/>
                  </a:lnTo>
                  <a:cubicBezTo>
                    <a:pt x="3679212" y="1299704"/>
                    <a:pt x="3676877" y="1305343"/>
                    <a:pt x="3672719" y="1309500"/>
                  </a:cubicBezTo>
                  <a:cubicBezTo>
                    <a:pt x="3668562" y="1313658"/>
                    <a:pt x="3662924" y="1315993"/>
                    <a:pt x="3657044" y="1315993"/>
                  </a:cubicBezTo>
                  <a:lnTo>
                    <a:pt x="22168" y="1315993"/>
                  </a:lnTo>
                  <a:cubicBezTo>
                    <a:pt x="9925" y="1315993"/>
                    <a:pt x="0" y="1306068"/>
                    <a:pt x="0" y="1293825"/>
                  </a:cubicBezTo>
                  <a:lnTo>
                    <a:pt x="0" y="22168"/>
                  </a:lnTo>
                  <a:cubicBezTo>
                    <a:pt x="0" y="16289"/>
                    <a:pt x="2336" y="10650"/>
                    <a:pt x="6493" y="6493"/>
                  </a:cubicBezTo>
                  <a:cubicBezTo>
                    <a:pt x="10650" y="2336"/>
                    <a:pt x="16289" y="0"/>
                    <a:pt x="22168" y="0"/>
                  </a:cubicBezTo>
                  <a:close/>
                </a:path>
              </a:pathLst>
            </a:custGeom>
            <a:solidFill>
              <a:srgbClr val="7A433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3679212" cy="1287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23421" y="7799020"/>
            <a:ext cx="668646" cy="2270094"/>
          </a:xfrm>
          <a:custGeom>
            <a:avLst/>
            <a:gdLst/>
            <a:ahLst/>
            <a:cxnLst/>
            <a:rect l="l" t="t" r="r" b="b"/>
            <a:pathLst>
              <a:path w="668646" h="2270094">
                <a:moveTo>
                  <a:pt x="0" y="0"/>
                </a:moveTo>
                <a:lnTo>
                  <a:pt x="668645" y="0"/>
                </a:lnTo>
                <a:lnTo>
                  <a:pt x="668645" y="2270094"/>
                </a:lnTo>
                <a:lnTo>
                  <a:pt x="0" y="2270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85886" y="2762837"/>
            <a:ext cx="2482277" cy="837768"/>
          </a:xfrm>
          <a:custGeom>
            <a:avLst/>
            <a:gdLst/>
            <a:ahLst/>
            <a:cxnLst/>
            <a:rect l="l" t="t" r="r" b="b"/>
            <a:pathLst>
              <a:path w="2482277" h="837768">
                <a:moveTo>
                  <a:pt x="0" y="0"/>
                </a:moveTo>
                <a:lnTo>
                  <a:pt x="2482277" y="0"/>
                </a:lnTo>
                <a:lnTo>
                  <a:pt x="2482277" y="837769"/>
                </a:lnTo>
                <a:lnTo>
                  <a:pt x="0" y="837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037935" y="2173320"/>
            <a:ext cx="6212130" cy="3106065"/>
          </a:xfrm>
          <a:custGeom>
            <a:avLst/>
            <a:gdLst/>
            <a:ahLst/>
            <a:cxnLst/>
            <a:rect l="l" t="t" r="r" b="b"/>
            <a:pathLst>
              <a:path w="6212130" h="3106065">
                <a:moveTo>
                  <a:pt x="0" y="0"/>
                </a:moveTo>
                <a:lnTo>
                  <a:pt x="6212130" y="0"/>
                </a:lnTo>
                <a:lnTo>
                  <a:pt x="6212130" y="3106065"/>
                </a:lnTo>
                <a:lnTo>
                  <a:pt x="0" y="3106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660342" y="1748063"/>
            <a:ext cx="12967317" cy="74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46"/>
              </a:lnSpc>
            </a:pPr>
            <a:r>
              <a:rPr lang="en-US" sz="5314" b="1">
                <a:solidFill>
                  <a:srgbClr val="FFF6ED"/>
                </a:solidFill>
                <a:latin typeface="Roca One Bold"/>
                <a:ea typeface="Roca One Bold"/>
                <a:cs typeface="Roca One Bold"/>
                <a:sym typeface="Roca One Bold"/>
              </a:rPr>
              <a:t> About the Company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5108" y="5260335"/>
            <a:ext cx="13482551" cy="382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435" lvl="1" indent="-254717" algn="l">
              <a:lnSpc>
                <a:spcPts val="3067"/>
              </a:lnSpc>
              <a:buFont typeface="Arial"/>
              <a:buChar char="•"/>
            </a:pPr>
            <a:r>
              <a:rPr lang="en-US" sz="235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Adventure Works Cycles is a multinational manufacturing company specializing in bicycles and related accessories</a:t>
            </a:r>
          </a:p>
          <a:p>
            <a:pPr marL="509435" lvl="1" indent="-254717" algn="l">
              <a:lnSpc>
                <a:spcPts val="3067"/>
              </a:lnSpc>
              <a:buFont typeface="Arial"/>
              <a:buChar char="•"/>
            </a:pPr>
            <a:r>
              <a:rPr lang="en-US" sz="235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The company operates across North America, Europe, and Asia, serving a diverse customer base</a:t>
            </a:r>
          </a:p>
          <a:p>
            <a:pPr marL="509435" lvl="1" indent="-254717" algn="l">
              <a:lnSpc>
                <a:spcPts val="3067"/>
              </a:lnSpc>
              <a:buFont typeface="Arial"/>
              <a:buChar char="•"/>
            </a:pPr>
            <a:r>
              <a:rPr lang="en-US" sz="235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Manufacturing operations include a key plant in Mexico that produces critical subcomponents</a:t>
            </a:r>
          </a:p>
          <a:p>
            <a:pPr marL="509435" lvl="1" indent="-254717" algn="l">
              <a:lnSpc>
                <a:spcPts val="3067"/>
              </a:lnSpc>
              <a:buFont typeface="Arial"/>
              <a:buChar char="•"/>
            </a:pPr>
            <a:r>
              <a:rPr lang="en-US" sz="235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Final product assembly is carried out in Bothell, Washington</a:t>
            </a:r>
          </a:p>
          <a:p>
            <a:pPr marL="509435" lvl="1" indent="-254717" algn="l">
              <a:lnSpc>
                <a:spcPts val="3067"/>
              </a:lnSpc>
              <a:buFont typeface="Arial"/>
              <a:buChar char="•"/>
            </a:pPr>
            <a:r>
              <a:rPr lang="en-US" sz="235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The company aims to expand its market share and improve profitability through better sales strategies</a:t>
            </a:r>
          </a:p>
          <a:p>
            <a:pPr algn="l">
              <a:lnSpc>
                <a:spcPts val="3067"/>
              </a:lnSpc>
            </a:pPr>
            <a:endParaRPr lang="en-US" sz="2359">
              <a:solidFill>
                <a:srgbClr val="FFF6ED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091" y="1347965"/>
            <a:ext cx="10532775" cy="8620266"/>
            <a:chOff x="0" y="0"/>
            <a:chExt cx="2774064" cy="2270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74064" cy="2270358"/>
            </a:xfrm>
            <a:custGeom>
              <a:avLst/>
              <a:gdLst/>
              <a:ahLst/>
              <a:cxnLst/>
              <a:rect l="l" t="t" r="r" b="b"/>
              <a:pathLst>
                <a:path w="2774064" h="2270358">
                  <a:moveTo>
                    <a:pt x="29401" y="0"/>
                  </a:moveTo>
                  <a:lnTo>
                    <a:pt x="2744663" y="0"/>
                  </a:lnTo>
                  <a:cubicBezTo>
                    <a:pt x="2752461" y="0"/>
                    <a:pt x="2759939" y="3098"/>
                    <a:pt x="2765453" y="8611"/>
                  </a:cubicBezTo>
                  <a:cubicBezTo>
                    <a:pt x="2770967" y="14125"/>
                    <a:pt x="2774064" y="21604"/>
                    <a:pt x="2774064" y="29401"/>
                  </a:cubicBezTo>
                  <a:lnTo>
                    <a:pt x="2774064" y="2240957"/>
                  </a:lnTo>
                  <a:cubicBezTo>
                    <a:pt x="2774064" y="2257195"/>
                    <a:pt x="2760901" y="2270358"/>
                    <a:pt x="2744663" y="2270358"/>
                  </a:cubicBezTo>
                  <a:lnTo>
                    <a:pt x="29401" y="2270358"/>
                  </a:lnTo>
                  <a:cubicBezTo>
                    <a:pt x="21604" y="2270358"/>
                    <a:pt x="14125" y="2267260"/>
                    <a:pt x="8611" y="2261747"/>
                  </a:cubicBezTo>
                  <a:cubicBezTo>
                    <a:pt x="3098" y="2256233"/>
                    <a:pt x="0" y="2248755"/>
                    <a:pt x="0" y="2240957"/>
                  </a:cubicBezTo>
                  <a:lnTo>
                    <a:pt x="0" y="29401"/>
                  </a:lnTo>
                  <a:cubicBezTo>
                    <a:pt x="0" y="13163"/>
                    <a:pt x="13163" y="0"/>
                    <a:pt x="29401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774064" cy="2241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1635" y="356305"/>
            <a:ext cx="10087686" cy="8901995"/>
            <a:chOff x="0" y="0"/>
            <a:chExt cx="13450249" cy="11869327"/>
          </a:xfrm>
        </p:grpSpPr>
        <p:sp>
          <p:nvSpPr>
            <p:cNvPr id="6" name="TextBox 6"/>
            <p:cNvSpPr txBox="1"/>
            <p:nvPr/>
          </p:nvSpPr>
          <p:spPr>
            <a:xfrm>
              <a:off x="0" y="3792790"/>
              <a:ext cx="13450249" cy="80765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 A Star Schema data model was implemented for efficient data organization and analysis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The central fact table (Sales) contains transactional data such as order quantity, price, and discount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Dimension tables provide descriptive attributes: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Product Dimension: product details and pricing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Customer Dimension: customer information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Date Dimension: time-based attributes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Sales Territory Dimension: regional data</a:t>
              </a:r>
            </a:p>
            <a:p>
              <a:pPr marL="660282" lvl="1" indent="-330141" algn="l">
                <a:lnSpc>
                  <a:spcPts val="3731"/>
                </a:lnSpc>
                <a:buFont typeface="Arial"/>
                <a:buChar char="•"/>
              </a:pPr>
              <a:r>
                <a:rPr lang="en-US" sz="3058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This model improves query performance and simplifies reporting</a:t>
              </a:r>
            </a:p>
            <a:p>
              <a:pPr marL="0" lvl="0" indent="0" algn="l">
                <a:lnSpc>
                  <a:spcPts val="3609"/>
                </a:lnSpc>
                <a:spcBef>
                  <a:spcPct val="0"/>
                </a:spcBef>
              </a:pPr>
              <a:endParaRPr lang="en-US" sz="3058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54147" y="57150"/>
              <a:ext cx="8839671" cy="109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38"/>
                </a:lnSpc>
                <a:spcBef>
                  <a:spcPct val="0"/>
                </a:spcBef>
              </a:pPr>
              <a:r>
                <a:rPr lang="en-US" sz="5670" b="1">
                  <a:solidFill>
                    <a:srgbClr val="FFF6ED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 Data Model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2451" y="4125329"/>
            <a:ext cx="6069926" cy="3065539"/>
            <a:chOff x="0" y="0"/>
            <a:chExt cx="955188" cy="482406"/>
          </a:xfrm>
        </p:grpSpPr>
        <p:sp>
          <p:nvSpPr>
            <p:cNvPr id="9" name="Freeform 9"/>
            <p:cNvSpPr/>
            <p:nvPr/>
          </p:nvSpPr>
          <p:spPr>
            <a:xfrm rot="6000">
              <a:off x="-420" y="-833"/>
              <a:ext cx="956029" cy="484072"/>
            </a:xfrm>
            <a:custGeom>
              <a:avLst/>
              <a:gdLst/>
              <a:ahLst/>
              <a:cxnLst/>
              <a:rect l="l" t="t" r="r" b="b"/>
              <a:pathLst>
                <a:path w="956029" h="484072">
                  <a:moveTo>
                    <a:pt x="0" y="1667"/>
                  </a:moveTo>
                  <a:lnTo>
                    <a:pt x="955187" y="0"/>
                  </a:lnTo>
                  <a:lnTo>
                    <a:pt x="956028" y="482405"/>
                  </a:lnTo>
                  <a:lnTo>
                    <a:pt x="842" y="484072"/>
                  </a:lnTo>
                  <a:close/>
                </a:path>
              </a:pathLst>
            </a:custGeom>
            <a:blipFill>
              <a:blip r:embed="rId2"/>
              <a:stretch>
                <a:fillRect l="-900" t="-155" r="-52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9019158" cy="11080672"/>
            <a:chOff x="0" y="0"/>
            <a:chExt cx="5009161" cy="2918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9161" cy="2918366"/>
            </a:xfrm>
            <a:custGeom>
              <a:avLst/>
              <a:gdLst/>
              <a:ahLst/>
              <a:cxnLst/>
              <a:rect l="l" t="t" r="r" b="b"/>
              <a:pathLst>
                <a:path w="5009161" h="2918366">
                  <a:moveTo>
                    <a:pt x="16282" y="0"/>
                  </a:moveTo>
                  <a:lnTo>
                    <a:pt x="4992879" y="0"/>
                  </a:lnTo>
                  <a:cubicBezTo>
                    <a:pt x="4997197" y="0"/>
                    <a:pt x="5001339" y="1715"/>
                    <a:pt x="5004392" y="4769"/>
                  </a:cubicBezTo>
                  <a:cubicBezTo>
                    <a:pt x="5007446" y="7823"/>
                    <a:pt x="5009161" y="11964"/>
                    <a:pt x="5009161" y="16282"/>
                  </a:cubicBezTo>
                  <a:lnTo>
                    <a:pt x="5009161" y="2902084"/>
                  </a:lnTo>
                  <a:cubicBezTo>
                    <a:pt x="5009161" y="2906402"/>
                    <a:pt x="5007446" y="2910544"/>
                    <a:pt x="5004392" y="2913597"/>
                  </a:cubicBezTo>
                  <a:cubicBezTo>
                    <a:pt x="5001339" y="2916651"/>
                    <a:pt x="4997197" y="2918366"/>
                    <a:pt x="4992879" y="2918366"/>
                  </a:cubicBezTo>
                  <a:lnTo>
                    <a:pt x="16282" y="2918366"/>
                  </a:lnTo>
                  <a:cubicBezTo>
                    <a:pt x="7290" y="2918366"/>
                    <a:pt x="0" y="2911076"/>
                    <a:pt x="0" y="2902084"/>
                  </a:cubicBezTo>
                  <a:lnTo>
                    <a:pt x="0" y="16282"/>
                  </a:lnTo>
                  <a:cubicBezTo>
                    <a:pt x="0" y="11964"/>
                    <a:pt x="1715" y="7823"/>
                    <a:pt x="4769" y="4769"/>
                  </a:cubicBezTo>
                  <a:cubicBezTo>
                    <a:pt x="7823" y="1715"/>
                    <a:pt x="11964" y="0"/>
                    <a:pt x="16282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5009161" cy="2889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07374"/>
            <a:ext cx="16343628" cy="52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4"/>
              </a:lnSpc>
              <a:spcBef>
                <a:spcPct val="0"/>
              </a:spcBef>
            </a:pPr>
            <a:r>
              <a:rPr lang="en-US" sz="3549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TABLEAU DASHBOARD</a:t>
            </a:r>
          </a:p>
        </p:txBody>
      </p:sp>
      <p:sp>
        <p:nvSpPr>
          <p:cNvPr id="6" name="Freeform 6"/>
          <p:cNvSpPr/>
          <p:nvPr/>
        </p:nvSpPr>
        <p:spPr>
          <a:xfrm>
            <a:off x="1361777" y="1825123"/>
            <a:ext cx="15564446" cy="7430425"/>
          </a:xfrm>
          <a:custGeom>
            <a:avLst/>
            <a:gdLst/>
            <a:ahLst/>
            <a:cxnLst/>
            <a:rect l="l" t="t" r="r" b="b"/>
            <a:pathLst>
              <a:path w="15564446" h="7430425">
                <a:moveTo>
                  <a:pt x="0" y="0"/>
                </a:moveTo>
                <a:lnTo>
                  <a:pt x="15564446" y="0"/>
                </a:lnTo>
                <a:lnTo>
                  <a:pt x="15564446" y="7430425"/>
                </a:lnTo>
                <a:lnTo>
                  <a:pt x="0" y="7430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8" t="-117" b="-92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372" y="385101"/>
            <a:ext cx="17273365" cy="9516797"/>
            <a:chOff x="0" y="0"/>
            <a:chExt cx="4549364" cy="2506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9363" cy="2506482"/>
            </a:xfrm>
            <a:custGeom>
              <a:avLst/>
              <a:gdLst/>
              <a:ahLst/>
              <a:cxnLst/>
              <a:rect l="l" t="t" r="r" b="b"/>
              <a:pathLst>
                <a:path w="4549363" h="2506482">
                  <a:moveTo>
                    <a:pt x="17928" y="0"/>
                  </a:moveTo>
                  <a:lnTo>
                    <a:pt x="4531435" y="0"/>
                  </a:lnTo>
                  <a:cubicBezTo>
                    <a:pt x="4536190" y="0"/>
                    <a:pt x="4540750" y="1889"/>
                    <a:pt x="4544113" y="5251"/>
                  </a:cubicBezTo>
                  <a:cubicBezTo>
                    <a:pt x="4547475" y="8613"/>
                    <a:pt x="4549363" y="13173"/>
                    <a:pt x="4549363" y="17928"/>
                  </a:cubicBezTo>
                  <a:lnTo>
                    <a:pt x="4549363" y="2488554"/>
                  </a:lnTo>
                  <a:cubicBezTo>
                    <a:pt x="4549363" y="2493308"/>
                    <a:pt x="4547475" y="2497868"/>
                    <a:pt x="4544113" y="2501230"/>
                  </a:cubicBezTo>
                  <a:cubicBezTo>
                    <a:pt x="4540750" y="2504593"/>
                    <a:pt x="4536190" y="2506482"/>
                    <a:pt x="4531435" y="2506482"/>
                  </a:cubicBezTo>
                  <a:lnTo>
                    <a:pt x="17928" y="2506482"/>
                  </a:lnTo>
                  <a:cubicBezTo>
                    <a:pt x="13173" y="2506482"/>
                    <a:pt x="8613" y="2504593"/>
                    <a:pt x="5251" y="2501230"/>
                  </a:cubicBezTo>
                  <a:cubicBezTo>
                    <a:pt x="1889" y="2497868"/>
                    <a:pt x="0" y="2493308"/>
                    <a:pt x="0" y="2488554"/>
                  </a:cubicBezTo>
                  <a:lnTo>
                    <a:pt x="0" y="17928"/>
                  </a:lnTo>
                  <a:cubicBezTo>
                    <a:pt x="0" y="13173"/>
                    <a:pt x="1889" y="8613"/>
                    <a:pt x="5251" y="5251"/>
                  </a:cubicBezTo>
                  <a:cubicBezTo>
                    <a:pt x="8613" y="1889"/>
                    <a:pt x="13173" y="0"/>
                    <a:pt x="1792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549364" cy="247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2810" y="-1999177"/>
            <a:ext cx="16386490" cy="11257477"/>
            <a:chOff x="0" y="0"/>
            <a:chExt cx="21848654" cy="15009970"/>
          </a:xfrm>
        </p:grpSpPr>
        <p:sp>
          <p:nvSpPr>
            <p:cNvPr id="6" name="TextBox 6"/>
            <p:cNvSpPr txBox="1"/>
            <p:nvPr/>
          </p:nvSpPr>
          <p:spPr>
            <a:xfrm>
              <a:off x="0" y="4850901"/>
              <a:ext cx="21848654" cy="10159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 This dashboard provides a comprehensive overview of sales, profit, and business performance for Adventure Works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It integrates multiple KPIs and visualizations to enable data-driven decision-making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The dashboard is designed to be interactive, allowing users to filter data by Year, Region, Category, and Quarter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It highlights key business metrics such as Total Sales, Total Profit, Profit Margin, and Total Orders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Visualizations are structured to show trends, comparisons, and distributions across different dimensions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It enables stakeholders to quickly identify top-performing products, regions, and time periods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The dashboard supports analysis at multiple levels including yearly, quarterly, monthly, and category-wise performance</a:t>
              </a:r>
            </a:p>
            <a:p>
              <a:pPr marL="666585" lvl="1" indent="-333293" algn="l">
                <a:lnSpc>
                  <a:spcPts val="3766"/>
                </a:lnSpc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It helps in identifying profitability trends and cost efficiency</a:t>
              </a:r>
            </a:p>
            <a:p>
              <a:pPr marL="666585" lvl="1" indent="-333293" algn="l">
                <a:lnSpc>
                  <a:spcPts val="376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87">
                  <a:solidFill>
                    <a:srgbClr val="FFF6ED"/>
                  </a:solidFill>
                  <a:latin typeface="Now"/>
                  <a:ea typeface="Now"/>
                  <a:cs typeface="Now"/>
                  <a:sym typeface="Now"/>
                </a:rPr>
                <a:t>Designed with a clean layout to ensure easy interpretation and quick insights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13015" y="57150"/>
              <a:ext cx="8839671" cy="109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38"/>
                </a:lnSpc>
                <a:spcBef>
                  <a:spcPct val="0"/>
                </a:spcBef>
              </a:pPr>
              <a:r>
                <a:rPr lang="en-US" sz="5670" b="1">
                  <a:solidFill>
                    <a:srgbClr val="FFF6ED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 Data Model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372" y="385101"/>
            <a:ext cx="17273365" cy="9516797"/>
            <a:chOff x="0" y="0"/>
            <a:chExt cx="4549364" cy="2506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9363" cy="2506482"/>
            </a:xfrm>
            <a:custGeom>
              <a:avLst/>
              <a:gdLst/>
              <a:ahLst/>
              <a:cxnLst/>
              <a:rect l="l" t="t" r="r" b="b"/>
              <a:pathLst>
                <a:path w="4549363" h="2506482">
                  <a:moveTo>
                    <a:pt x="17928" y="0"/>
                  </a:moveTo>
                  <a:lnTo>
                    <a:pt x="4531435" y="0"/>
                  </a:lnTo>
                  <a:cubicBezTo>
                    <a:pt x="4536190" y="0"/>
                    <a:pt x="4540750" y="1889"/>
                    <a:pt x="4544113" y="5251"/>
                  </a:cubicBezTo>
                  <a:cubicBezTo>
                    <a:pt x="4547475" y="8613"/>
                    <a:pt x="4549363" y="13173"/>
                    <a:pt x="4549363" y="17928"/>
                  </a:cubicBezTo>
                  <a:lnTo>
                    <a:pt x="4549363" y="2488554"/>
                  </a:lnTo>
                  <a:cubicBezTo>
                    <a:pt x="4549363" y="2493308"/>
                    <a:pt x="4547475" y="2497868"/>
                    <a:pt x="4544113" y="2501230"/>
                  </a:cubicBezTo>
                  <a:cubicBezTo>
                    <a:pt x="4540750" y="2504593"/>
                    <a:pt x="4536190" y="2506482"/>
                    <a:pt x="4531435" y="2506482"/>
                  </a:cubicBezTo>
                  <a:lnTo>
                    <a:pt x="17928" y="2506482"/>
                  </a:lnTo>
                  <a:cubicBezTo>
                    <a:pt x="13173" y="2506482"/>
                    <a:pt x="8613" y="2504593"/>
                    <a:pt x="5251" y="2501230"/>
                  </a:cubicBezTo>
                  <a:cubicBezTo>
                    <a:pt x="1889" y="2497868"/>
                    <a:pt x="0" y="2493308"/>
                    <a:pt x="0" y="2488554"/>
                  </a:cubicBezTo>
                  <a:lnTo>
                    <a:pt x="0" y="17928"/>
                  </a:lnTo>
                  <a:cubicBezTo>
                    <a:pt x="0" y="13173"/>
                    <a:pt x="1889" y="8613"/>
                    <a:pt x="5251" y="5251"/>
                  </a:cubicBezTo>
                  <a:cubicBezTo>
                    <a:pt x="8613" y="1889"/>
                    <a:pt x="13173" y="0"/>
                    <a:pt x="1792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549364" cy="247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8200" y="1370974"/>
            <a:ext cx="16383000" cy="8115926"/>
          </a:xfrm>
          <a:custGeom>
            <a:avLst/>
            <a:gdLst/>
            <a:ahLst/>
            <a:cxnLst/>
            <a:rect l="l" t="t" r="r" b="b"/>
            <a:pathLst>
              <a:path w="11301259" h="6390163">
                <a:moveTo>
                  <a:pt x="0" y="0"/>
                </a:moveTo>
                <a:lnTo>
                  <a:pt x="11301259" y="0"/>
                </a:lnTo>
                <a:lnTo>
                  <a:pt x="11301259" y="6390163"/>
                </a:lnTo>
                <a:lnTo>
                  <a:pt x="0" y="639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1" r="-26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89617" y="646223"/>
            <a:ext cx="6080165" cy="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  <a:spcBef>
                <a:spcPct val="0"/>
              </a:spcBef>
            </a:pPr>
            <a:r>
              <a:rPr lang="en-US" sz="3949" b="1" dirty="0">
                <a:solidFill>
                  <a:srgbClr val="F4F5F5"/>
                </a:solidFill>
                <a:latin typeface="Now Bold"/>
                <a:ea typeface="Now Bold"/>
                <a:cs typeface="Now Bold"/>
                <a:sym typeface="Now Bold"/>
              </a:rPr>
              <a:t> POWER BI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372" y="385101"/>
            <a:ext cx="17273365" cy="9516797"/>
            <a:chOff x="0" y="0"/>
            <a:chExt cx="4549364" cy="2506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9363" cy="2506482"/>
            </a:xfrm>
            <a:custGeom>
              <a:avLst/>
              <a:gdLst/>
              <a:ahLst/>
              <a:cxnLst/>
              <a:rect l="l" t="t" r="r" b="b"/>
              <a:pathLst>
                <a:path w="4549363" h="2506482">
                  <a:moveTo>
                    <a:pt x="17928" y="0"/>
                  </a:moveTo>
                  <a:lnTo>
                    <a:pt x="4531435" y="0"/>
                  </a:lnTo>
                  <a:cubicBezTo>
                    <a:pt x="4536190" y="0"/>
                    <a:pt x="4540750" y="1889"/>
                    <a:pt x="4544113" y="5251"/>
                  </a:cubicBezTo>
                  <a:cubicBezTo>
                    <a:pt x="4547475" y="8613"/>
                    <a:pt x="4549363" y="13173"/>
                    <a:pt x="4549363" y="17928"/>
                  </a:cubicBezTo>
                  <a:lnTo>
                    <a:pt x="4549363" y="2488554"/>
                  </a:lnTo>
                  <a:cubicBezTo>
                    <a:pt x="4549363" y="2493308"/>
                    <a:pt x="4547475" y="2497868"/>
                    <a:pt x="4544113" y="2501230"/>
                  </a:cubicBezTo>
                  <a:cubicBezTo>
                    <a:pt x="4540750" y="2504593"/>
                    <a:pt x="4536190" y="2506482"/>
                    <a:pt x="4531435" y="2506482"/>
                  </a:cubicBezTo>
                  <a:lnTo>
                    <a:pt x="17928" y="2506482"/>
                  </a:lnTo>
                  <a:cubicBezTo>
                    <a:pt x="13173" y="2506482"/>
                    <a:pt x="8613" y="2504593"/>
                    <a:pt x="5251" y="2501230"/>
                  </a:cubicBezTo>
                  <a:cubicBezTo>
                    <a:pt x="1889" y="2497868"/>
                    <a:pt x="0" y="2493308"/>
                    <a:pt x="0" y="2488554"/>
                  </a:cubicBezTo>
                  <a:lnTo>
                    <a:pt x="0" y="17928"/>
                  </a:lnTo>
                  <a:cubicBezTo>
                    <a:pt x="0" y="13173"/>
                    <a:pt x="1889" y="8613"/>
                    <a:pt x="5251" y="5251"/>
                  </a:cubicBezTo>
                  <a:cubicBezTo>
                    <a:pt x="8613" y="1889"/>
                    <a:pt x="13173" y="0"/>
                    <a:pt x="1792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549364" cy="247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66800"/>
            <a:ext cx="16230600" cy="82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dashboard focuses on analyzing sales and profit performance across product categories and sub-categories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provides a detailed breakdown of revenue contribution from different product segments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dashboard includes key KPIs such as Total Sales, Total Profit, and Total Orders for quick performance evaluation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enables users to filter data dynamically using Year, Month, and Sales Territory filters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Visualizations highlight top-performing products, category-wise contribution, and profitability trends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helps identify high-revenue and high-profit products, supporting better business decisions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dashboard is designed to provide clear insights into product-level performance and sales distribution</a:t>
            </a:r>
          </a:p>
          <a:p>
            <a:pPr marL="795253" lvl="1" indent="-397626" algn="l">
              <a:lnSpc>
                <a:spcPts val="4051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supports data-driven strategies for product management, marketing, and inventory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372" y="385101"/>
            <a:ext cx="17273365" cy="9516797"/>
            <a:chOff x="0" y="0"/>
            <a:chExt cx="4549364" cy="2506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9363" cy="2506482"/>
            </a:xfrm>
            <a:custGeom>
              <a:avLst/>
              <a:gdLst/>
              <a:ahLst/>
              <a:cxnLst/>
              <a:rect l="l" t="t" r="r" b="b"/>
              <a:pathLst>
                <a:path w="4549363" h="2506482">
                  <a:moveTo>
                    <a:pt x="17928" y="0"/>
                  </a:moveTo>
                  <a:lnTo>
                    <a:pt x="4531435" y="0"/>
                  </a:lnTo>
                  <a:cubicBezTo>
                    <a:pt x="4536190" y="0"/>
                    <a:pt x="4540750" y="1889"/>
                    <a:pt x="4544113" y="5251"/>
                  </a:cubicBezTo>
                  <a:cubicBezTo>
                    <a:pt x="4547475" y="8613"/>
                    <a:pt x="4549363" y="13173"/>
                    <a:pt x="4549363" y="17928"/>
                  </a:cubicBezTo>
                  <a:lnTo>
                    <a:pt x="4549363" y="2488554"/>
                  </a:lnTo>
                  <a:cubicBezTo>
                    <a:pt x="4549363" y="2493308"/>
                    <a:pt x="4547475" y="2497868"/>
                    <a:pt x="4544113" y="2501230"/>
                  </a:cubicBezTo>
                  <a:cubicBezTo>
                    <a:pt x="4540750" y="2504593"/>
                    <a:pt x="4536190" y="2506482"/>
                    <a:pt x="4531435" y="2506482"/>
                  </a:cubicBezTo>
                  <a:lnTo>
                    <a:pt x="17928" y="2506482"/>
                  </a:lnTo>
                  <a:cubicBezTo>
                    <a:pt x="13173" y="2506482"/>
                    <a:pt x="8613" y="2504593"/>
                    <a:pt x="5251" y="2501230"/>
                  </a:cubicBezTo>
                  <a:cubicBezTo>
                    <a:pt x="1889" y="2497868"/>
                    <a:pt x="0" y="2493308"/>
                    <a:pt x="0" y="2488554"/>
                  </a:cubicBezTo>
                  <a:lnTo>
                    <a:pt x="0" y="17928"/>
                  </a:lnTo>
                  <a:cubicBezTo>
                    <a:pt x="0" y="13173"/>
                    <a:pt x="1889" y="8613"/>
                    <a:pt x="5251" y="5251"/>
                  </a:cubicBezTo>
                  <a:cubicBezTo>
                    <a:pt x="8613" y="1889"/>
                    <a:pt x="13173" y="0"/>
                    <a:pt x="1792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549364" cy="247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62000" y="1295719"/>
            <a:ext cx="16611600" cy="8352831"/>
          </a:xfrm>
          <a:custGeom>
            <a:avLst/>
            <a:gdLst/>
            <a:ahLst/>
            <a:cxnLst/>
            <a:rect l="l" t="t" r="r" b="b"/>
            <a:pathLst>
              <a:path w="11301259" h="6328705">
                <a:moveTo>
                  <a:pt x="0" y="0"/>
                </a:moveTo>
                <a:lnTo>
                  <a:pt x="11301259" y="0"/>
                </a:lnTo>
                <a:lnTo>
                  <a:pt x="11301259" y="6328705"/>
                </a:lnTo>
                <a:lnTo>
                  <a:pt x="0" y="6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5693934" y="638450"/>
            <a:ext cx="6744236" cy="572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  <a:spcBef>
                <a:spcPct val="0"/>
              </a:spcBef>
            </a:pPr>
            <a:r>
              <a:rPr lang="en-US" sz="3949" b="1" dirty="0">
                <a:solidFill>
                  <a:srgbClr val="F4F5F5"/>
                </a:solidFill>
                <a:latin typeface="Now Bold"/>
                <a:ea typeface="Now Bold"/>
                <a:cs typeface="Now Bold"/>
                <a:sym typeface="Now Bold"/>
              </a:rPr>
              <a:t> EXCEL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372" y="385101"/>
            <a:ext cx="17273365" cy="9516797"/>
            <a:chOff x="0" y="0"/>
            <a:chExt cx="4549364" cy="2506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9363" cy="2506482"/>
            </a:xfrm>
            <a:custGeom>
              <a:avLst/>
              <a:gdLst/>
              <a:ahLst/>
              <a:cxnLst/>
              <a:rect l="l" t="t" r="r" b="b"/>
              <a:pathLst>
                <a:path w="4549363" h="2506482">
                  <a:moveTo>
                    <a:pt x="17928" y="0"/>
                  </a:moveTo>
                  <a:lnTo>
                    <a:pt x="4531435" y="0"/>
                  </a:lnTo>
                  <a:cubicBezTo>
                    <a:pt x="4536190" y="0"/>
                    <a:pt x="4540750" y="1889"/>
                    <a:pt x="4544113" y="5251"/>
                  </a:cubicBezTo>
                  <a:cubicBezTo>
                    <a:pt x="4547475" y="8613"/>
                    <a:pt x="4549363" y="13173"/>
                    <a:pt x="4549363" y="17928"/>
                  </a:cubicBezTo>
                  <a:lnTo>
                    <a:pt x="4549363" y="2488554"/>
                  </a:lnTo>
                  <a:cubicBezTo>
                    <a:pt x="4549363" y="2493308"/>
                    <a:pt x="4547475" y="2497868"/>
                    <a:pt x="4544113" y="2501230"/>
                  </a:cubicBezTo>
                  <a:cubicBezTo>
                    <a:pt x="4540750" y="2504593"/>
                    <a:pt x="4536190" y="2506482"/>
                    <a:pt x="4531435" y="2506482"/>
                  </a:cubicBezTo>
                  <a:lnTo>
                    <a:pt x="17928" y="2506482"/>
                  </a:lnTo>
                  <a:cubicBezTo>
                    <a:pt x="13173" y="2506482"/>
                    <a:pt x="8613" y="2504593"/>
                    <a:pt x="5251" y="2501230"/>
                  </a:cubicBezTo>
                  <a:cubicBezTo>
                    <a:pt x="1889" y="2497868"/>
                    <a:pt x="0" y="2493308"/>
                    <a:pt x="0" y="2488554"/>
                  </a:cubicBezTo>
                  <a:lnTo>
                    <a:pt x="0" y="17928"/>
                  </a:lnTo>
                  <a:cubicBezTo>
                    <a:pt x="0" y="13173"/>
                    <a:pt x="1889" y="8613"/>
                    <a:pt x="5251" y="5251"/>
                  </a:cubicBezTo>
                  <a:cubicBezTo>
                    <a:pt x="8613" y="1889"/>
                    <a:pt x="13173" y="0"/>
                    <a:pt x="1792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549364" cy="247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0755" y="1342798"/>
            <a:ext cx="16230600" cy="827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dashboard provides a comprehensive and interactive analysis of sales, profit, and cost performance across multiple dimensions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is designed to give a 360-degree view of business operations, including time trends, regional performance, customer insights, and product analysis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dashboard integrates key performance indicators (KPIs) such as Total Sales, Total Profit, Total Product Cost, and Total Orders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enables users to explore data dynamically using filters like Year, Territory Group, Product Category, and Financial Quarter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Multiple visualizations are used to highlight trends, comparisons, and distributions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dashboard supports data-driven decision-making by identifying high-performing areas and improvement opportunities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 provides insights into sales growth, cost efficiency, and profitability trends</a:t>
            </a:r>
          </a:p>
          <a:p>
            <a:pPr marL="759499" lvl="1" indent="-379750" algn="l">
              <a:lnSpc>
                <a:spcPts val="3869"/>
              </a:lnSpc>
              <a:buFont typeface="Arial"/>
              <a:buChar char="•"/>
            </a:pPr>
            <a:r>
              <a:rPr lang="en-US" sz="35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layout is designed to ensure clarity, usability, and quick interpretation of key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846624">
            <a:off x="14398905" y="1144247"/>
            <a:ext cx="3941787" cy="3246599"/>
          </a:xfrm>
          <a:custGeom>
            <a:avLst/>
            <a:gdLst/>
            <a:ahLst/>
            <a:cxnLst/>
            <a:rect l="l" t="t" r="r" b="b"/>
            <a:pathLst>
              <a:path w="3941787" h="3246599">
                <a:moveTo>
                  <a:pt x="0" y="0"/>
                </a:moveTo>
                <a:lnTo>
                  <a:pt x="3941787" y="0"/>
                </a:lnTo>
                <a:lnTo>
                  <a:pt x="3941787" y="3246598"/>
                </a:lnTo>
                <a:lnTo>
                  <a:pt x="0" y="324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55508" y="7632865"/>
            <a:ext cx="5134940" cy="4653539"/>
          </a:xfrm>
          <a:custGeom>
            <a:avLst/>
            <a:gdLst/>
            <a:ahLst/>
            <a:cxnLst/>
            <a:rect l="l" t="t" r="r" b="b"/>
            <a:pathLst>
              <a:path w="5134940" h="4653539">
                <a:moveTo>
                  <a:pt x="0" y="0"/>
                </a:moveTo>
                <a:lnTo>
                  <a:pt x="5134940" y="0"/>
                </a:lnTo>
                <a:lnTo>
                  <a:pt x="5134940" y="4653539"/>
                </a:lnTo>
                <a:lnTo>
                  <a:pt x="0" y="4653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76270">
            <a:off x="-71226" y="9370721"/>
            <a:ext cx="1737942" cy="993607"/>
          </a:xfrm>
          <a:custGeom>
            <a:avLst/>
            <a:gdLst/>
            <a:ahLst/>
            <a:cxnLst/>
            <a:rect l="l" t="t" r="r" b="b"/>
            <a:pathLst>
              <a:path w="1737942" h="993607">
                <a:moveTo>
                  <a:pt x="0" y="0"/>
                </a:moveTo>
                <a:lnTo>
                  <a:pt x="1737942" y="0"/>
                </a:lnTo>
                <a:lnTo>
                  <a:pt x="1737942" y="993608"/>
                </a:lnTo>
                <a:lnTo>
                  <a:pt x="0" y="993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939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83898" y="719310"/>
            <a:ext cx="1052020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6"/>
              </a:lnSpc>
            </a:pPr>
            <a:r>
              <a:rPr lang="en-US" sz="4380" b="1">
                <a:solidFill>
                  <a:srgbClr val="FFF6ED"/>
                </a:solidFill>
                <a:latin typeface="Roca One Bold"/>
                <a:ea typeface="Roca One Bold"/>
                <a:cs typeface="Roca One Bold"/>
                <a:sym typeface="Roca One Bold"/>
              </a:rPr>
              <a:t>  ANALYSIS</a:t>
            </a:r>
          </a:p>
          <a:p>
            <a:pPr marL="0" lvl="0" indent="0" algn="ctr">
              <a:lnSpc>
                <a:spcPts val="5256"/>
              </a:lnSpc>
            </a:pPr>
            <a:endParaRPr lang="en-US" sz="4380" b="1">
              <a:solidFill>
                <a:srgbClr val="FFF6ED"/>
              </a:solidFill>
              <a:latin typeface="Roca One Bold"/>
              <a:ea typeface="Roca One Bold"/>
              <a:cs typeface="Roca One Bold"/>
              <a:sym typeface="Roca One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801784" y="1963398"/>
            <a:ext cx="4037096" cy="7280870"/>
            <a:chOff x="0" y="0"/>
            <a:chExt cx="1063268" cy="19175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73780" y="1963398"/>
            <a:ext cx="4037096" cy="7280870"/>
            <a:chOff x="0" y="0"/>
            <a:chExt cx="1063268" cy="1917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87782" y="1963398"/>
            <a:ext cx="4037096" cy="7280870"/>
            <a:chOff x="0" y="0"/>
            <a:chExt cx="1063268" cy="19175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63276" y="2062335"/>
            <a:ext cx="4037096" cy="7280870"/>
            <a:chOff x="0" y="0"/>
            <a:chExt cx="1063268" cy="19175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r>
                <a:rPr lang="en-US" sz="2449" b="1">
                  <a:solidFill>
                    <a:srgbClr val="F4F5F5"/>
                  </a:solidFill>
                  <a:latin typeface="Now Bold"/>
                  <a:ea typeface="Now Bold"/>
                  <a:cs typeface="Now Bold"/>
                  <a:sym typeface="Now Bold"/>
                </a:rPr>
                <a:t>EDUCATION-WISE SALES</a:t>
              </a:r>
            </a:p>
            <a:p>
              <a:pPr algn="ctr">
                <a:lnSpc>
                  <a:spcPts val="2694"/>
                </a:lnSpc>
              </a:pPr>
              <a:endParaRPr lang="en-US" sz="2449" b="1">
                <a:solidFill>
                  <a:srgbClr val="F4F5F5"/>
                </a:solidFill>
                <a:latin typeface="Now Bold"/>
                <a:ea typeface="Now Bold"/>
                <a:cs typeface="Now Bold"/>
                <a:sym typeface="Now Bold"/>
              </a:endParaRPr>
            </a:p>
            <a:p>
              <a:pPr marL="528800" lvl="1" indent="-264400" algn="l">
                <a:lnSpc>
                  <a:spcPts val="2694"/>
                </a:lnSpc>
                <a:buFont typeface="Arial"/>
                <a:buChar char="•"/>
              </a:pPr>
              <a:r>
                <a:rPr lang="en-US" sz="2449" b="1">
                  <a:solidFill>
                    <a:srgbClr val="F4F5F5"/>
                  </a:solidFill>
                  <a:latin typeface="Now Bold"/>
                  <a:ea typeface="Now Bold"/>
                  <a:cs typeface="Now Bold"/>
                  <a:sym typeface="Now Bold"/>
                </a:rPr>
                <a:t>Bachelor’s degree holders contribute the most</a:t>
              </a:r>
            </a:p>
            <a:p>
              <a:pPr marL="528800" lvl="1" indent="-264400" algn="l">
                <a:lnSpc>
                  <a:spcPts val="2694"/>
                </a:lnSpc>
                <a:buFont typeface="Arial"/>
                <a:buChar char="•"/>
              </a:pPr>
              <a:r>
                <a:rPr lang="en-US" sz="2449" b="1">
                  <a:solidFill>
                    <a:srgbClr val="F4F5F5"/>
                  </a:solidFill>
                  <a:latin typeface="Now Bold"/>
                  <a:ea typeface="Now Bold"/>
                  <a:cs typeface="Now Bold"/>
                  <a:sym typeface="Now Bold"/>
                </a:rPr>
                <a:t>Lower contribution from partial high school segmeNT</a:t>
              </a:r>
            </a:p>
            <a:p>
              <a:pPr algn="l">
                <a:lnSpc>
                  <a:spcPts val="2694"/>
                </a:lnSpc>
              </a:pPr>
              <a:endParaRPr lang="en-US" sz="2449" b="1">
                <a:solidFill>
                  <a:srgbClr val="F4F5F5"/>
                </a:solidFill>
                <a:latin typeface="Now Bold"/>
                <a:ea typeface="Now Bold"/>
                <a:cs typeface="Now Bold"/>
                <a:sym typeface="Now Bold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97745" y="2495998"/>
            <a:ext cx="3781686" cy="266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📊 OVERALL KPIS</a:t>
            </a:r>
          </a:p>
          <a:p>
            <a:pPr algn="ctr">
              <a:lnSpc>
                <a:spcPts val="2694"/>
              </a:lnSpc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28800" lvl="1" indent="-264400" algn="ctr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 Total Sales: ₹29.36M</a:t>
            </a:r>
          </a:p>
          <a:p>
            <a:pPr marL="528800" lvl="1" indent="-264400" algn="ctr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Total Profit: ₹12.08M</a:t>
            </a:r>
          </a:p>
          <a:p>
            <a:pPr marL="528800" lvl="1" indent="-264400" algn="ctr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Profit Margin: 41.1%</a:t>
            </a:r>
          </a:p>
          <a:p>
            <a:pPr marL="528800" lvl="1" indent="-264400" algn="ctr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Total Orders: 60,398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7745" y="5492531"/>
            <a:ext cx="3929580" cy="333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🌍REGIONAL PERFORMANCE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Top Region: North America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Followed by Europe and Pacific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Fairly balanced but North America slightly dominates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1329" y="2476948"/>
            <a:ext cx="3650003" cy="646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7"/>
              </a:lnSpc>
              <a:spcBef>
                <a:spcPct val="0"/>
              </a:spcBef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🛍️ PRODUCT ANALYSIS</a:t>
            </a:r>
          </a:p>
          <a:p>
            <a:pPr marL="574537" lvl="1" indent="-287269" algn="l">
              <a:lnSpc>
                <a:spcPts val="2927"/>
              </a:lnSpc>
              <a:buFont typeface="Arial"/>
              <a:buChar char="•"/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Top Products</a:t>
            </a:r>
          </a:p>
          <a:p>
            <a:pPr marL="574537" lvl="1" indent="-287269" algn="l">
              <a:lnSpc>
                <a:spcPts val="2927"/>
              </a:lnSpc>
              <a:buFont typeface="Arial"/>
              <a:buChar char="•"/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Tires and Tubes (highest sales)</a:t>
            </a:r>
          </a:p>
          <a:p>
            <a:pPr marL="574537" lvl="1" indent="-287269" algn="l">
              <a:lnSpc>
                <a:spcPts val="2927"/>
              </a:lnSpc>
              <a:buFont typeface="Arial"/>
              <a:buChar char="•"/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Road Bikes</a:t>
            </a:r>
          </a:p>
          <a:p>
            <a:pPr marL="574537" lvl="1" indent="-287269" algn="l">
              <a:lnSpc>
                <a:spcPts val="2927"/>
              </a:lnSpc>
              <a:buFont typeface="Arial"/>
              <a:buChar char="•"/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Bottles and Cages</a:t>
            </a:r>
          </a:p>
          <a:p>
            <a:pPr algn="l">
              <a:lnSpc>
                <a:spcPts val="2927"/>
              </a:lnSpc>
            </a:pPr>
            <a:endParaRPr lang="en-US" sz="2661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algn="ctr">
              <a:lnSpc>
                <a:spcPts val="2927"/>
              </a:lnSpc>
              <a:spcBef>
                <a:spcPct val="0"/>
              </a:spcBef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CATEGORY-WISE SALES</a:t>
            </a:r>
          </a:p>
          <a:p>
            <a:pPr marL="574537" lvl="1" indent="-287269" algn="l">
              <a:lnSpc>
                <a:spcPts val="2927"/>
              </a:lnSpc>
              <a:buFont typeface="Arial"/>
              <a:buChar char="•"/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Bikes dominate revenue contribution</a:t>
            </a:r>
          </a:p>
          <a:p>
            <a:pPr marL="574537" lvl="1" indent="-287269" algn="l">
              <a:lnSpc>
                <a:spcPts val="2927"/>
              </a:lnSpc>
              <a:buFont typeface="Arial"/>
              <a:buChar char="•"/>
            </a:pPr>
            <a:r>
              <a:rPr lang="en-US" sz="2661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Accessories and Clothing contribute less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20500" y="3361321"/>
            <a:ext cx="3547156" cy="378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251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👥 CUSTOMER &amp; DEMOGRAPHICS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endParaRPr lang="en-US" sz="251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43940" lvl="1" indent="-271970" algn="l">
              <a:lnSpc>
                <a:spcPts val="2771"/>
              </a:lnSpc>
              <a:buFont typeface="Arial"/>
              <a:buChar char="•"/>
            </a:pPr>
            <a:r>
              <a:rPr lang="en-US" sz="251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Customer Performance</a:t>
            </a:r>
          </a:p>
          <a:p>
            <a:pPr marL="543940" lvl="1" indent="-271970" algn="l">
              <a:lnSpc>
                <a:spcPts val="2771"/>
              </a:lnSpc>
              <a:buFont typeface="Arial"/>
              <a:buChar char="•"/>
            </a:pPr>
            <a:r>
              <a:rPr lang="en-US" sz="251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Sales are evenly distributed among customers (no extreme dependency)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endParaRPr lang="en-US" sz="251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846624">
            <a:off x="14398905" y="1144247"/>
            <a:ext cx="3941787" cy="3246599"/>
          </a:xfrm>
          <a:custGeom>
            <a:avLst/>
            <a:gdLst/>
            <a:ahLst/>
            <a:cxnLst/>
            <a:rect l="l" t="t" r="r" b="b"/>
            <a:pathLst>
              <a:path w="3941787" h="3246599">
                <a:moveTo>
                  <a:pt x="0" y="0"/>
                </a:moveTo>
                <a:lnTo>
                  <a:pt x="3941787" y="0"/>
                </a:lnTo>
                <a:lnTo>
                  <a:pt x="3941787" y="3246598"/>
                </a:lnTo>
                <a:lnTo>
                  <a:pt x="0" y="324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55508" y="7632865"/>
            <a:ext cx="5134940" cy="4653539"/>
          </a:xfrm>
          <a:custGeom>
            <a:avLst/>
            <a:gdLst/>
            <a:ahLst/>
            <a:cxnLst/>
            <a:rect l="l" t="t" r="r" b="b"/>
            <a:pathLst>
              <a:path w="5134940" h="4653539">
                <a:moveTo>
                  <a:pt x="0" y="0"/>
                </a:moveTo>
                <a:lnTo>
                  <a:pt x="5134940" y="0"/>
                </a:lnTo>
                <a:lnTo>
                  <a:pt x="5134940" y="4653539"/>
                </a:lnTo>
                <a:lnTo>
                  <a:pt x="0" y="4653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76270">
            <a:off x="-71226" y="9370721"/>
            <a:ext cx="1737942" cy="993607"/>
          </a:xfrm>
          <a:custGeom>
            <a:avLst/>
            <a:gdLst/>
            <a:ahLst/>
            <a:cxnLst/>
            <a:rect l="l" t="t" r="r" b="b"/>
            <a:pathLst>
              <a:path w="1737942" h="993607">
                <a:moveTo>
                  <a:pt x="0" y="0"/>
                </a:moveTo>
                <a:lnTo>
                  <a:pt x="1737942" y="0"/>
                </a:lnTo>
                <a:lnTo>
                  <a:pt x="1737942" y="993608"/>
                </a:lnTo>
                <a:lnTo>
                  <a:pt x="0" y="993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939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83898" y="719310"/>
            <a:ext cx="1052020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56"/>
              </a:lnSpc>
            </a:pPr>
            <a:r>
              <a:rPr lang="en-US" sz="4380" b="1">
                <a:solidFill>
                  <a:srgbClr val="FFF6ED"/>
                </a:solidFill>
                <a:latin typeface="Roca One Bold"/>
                <a:ea typeface="Roca One Bold"/>
                <a:cs typeface="Roca One Bold"/>
                <a:sym typeface="Roca One Bold"/>
              </a:rPr>
              <a:t> ANALYSIS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01784" y="1963398"/>
            <a:ext cx="4037096" cy="7280870"/>
            <a:chOff x="0" y="0"/>
            <a:chExt cx="1063268" cy="19175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73780" y="1963398"/>
            <a:ext cx="4037096" cy="7280870"/>
            <a:chOff x="0" y="0"/>
            <a:chExt cx="1063268" cy="1917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87782" y="1963398"/>
            <a:ext cx="4037096" cy="7280870"/>
            <a:chOff x="0" y="0"/>
            <a:chExt cx="1063268" cy="19175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59778" y="1963398"/>
            <a:ext cx="4037096" cy="7280870"/>
            <a:chOff x="0" y="0"/>
            <a:chExt cx="1063268" cy="19175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2241" y="4783418"/>
            <a:ext cx="3616182" cy="2002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📈 TAX VS SALES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TAX INCREASES PROPORTIONALLY WITH SALES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HIGHEST IN Q4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06737" y="4283355"/>
            <a:ext cx="3399188" cy="300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PROFIT TRENDS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PROFIT PEAKS IN 2013 (~₹6–7M)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DECLINES SHARPLY IN 2014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PROFIT CLOSELY FOLLOWS SALES TREND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3783293"/>
            <a:ext cx="4066876" cy="5003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 📅 TIME-BASED ANALYSIS</a:t>
            </a:r>
          </a:p>
          <a:p>
            <a:pPr algn="ctr">
              <a:lnSpc>
                <a:spcPts val="2694"/>
              </a:lnSpc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algn="ctr">
              <a:lnSpc>
                <a:spcPts val="2694"/>
              </a:lnSpc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Year-wise Sales</a:t>
            </a:r>
          </a:p>
          <a:p>
            <a:pPr algn="ctr">
              <a:lnSpc>
                <a:spcPts val="2694"/>
              </a:lnSpc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2010: Very low (~₹0.04M)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2011–2012: Gradual growth (~₹7.08M → ₹5.84M)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2013: Peak (~₹16.35M)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2014: Sharp drop (~₹0.05M)</a:t>
            </a:r>
          </a:p>
          <a:p>
            <a:pPr algn="l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677601" y="3440393"/>
            <a:ext cx="3105214" cy="467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MONTH-WISE SALES</a:t>
            </a:r>
          </a:p>
          <a:p>
            <a:pPr algn="ctr">
              <a:lnSpc>
                <a:spcPts val="2359"/>
              </a:lnSpc>
              <a:spcBef>
                <a:spcPct val="0"/>
              </a:spcBef>
            </a:pPr>
            <a:endParaRPr lang="en-US" sz="2144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463083" lvl="1" indent="-231542" algn="l">
              <a:lnSpc>
                <a:spcPts val="2359"/>
              </a:lnSpc>
              <a:buFont typeface="Arial"/>
              <a:buChar char="•"/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SALES GRADUALLY INCREASE THROUGH THE YEAR</a:t>
            </a:r>
          </a:p>
          <a:p>
            <a:pPr marL="463083" lvl="1" indent="-231542" algn="l">
              <a:lnSpc>
                <a:spcPts val="2359"/>
              </a:lnSpc>
              <a:buFont typeface="Arial"/>
              <a:buChar char="•"/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PEAK IN OCT–DEC</a:t>
            </a:r>
          </a:p>
          <a:p>
            <a:pPr marL="463083" lvl="1" indent="-231542" algn="l">
              <a:lnSpc>
                <a:spcPts val="2359"/>
              </a:lnSpc>
              <a:buFont typeface="Arial"/>
              <a:buChar char="•"/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LOWEST IN JAN–FEB</a:t>
            </a:r>
          </a:p>
          <a:p>
            <a:pPr marL="463083" lvl="1" indent="-231542" algn="l">
              <a:lnSpc>
                <a:spcPts val="2359"/>
              </a:lnSpc>
              <a:buFont typeface="Arial"/>
              <a:buChar char="•"/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QUARTER-WISE SALES</a:t>
            </a:r>
          </a:p>
          <a:p>
            <a:pPr marL="463083" lvl="1" indent="-231542" algn="l">
              <a:lnSpc>
                <a:spcPts val="2359"/>
              </a:lnSpc>
              <a:buFont typeface="Arial"/>
              <a:buChar char="•"/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Q4 CONTRIBUTES THE HIGHEST (~31%)</a:t>
            </a:r>
          </a:p>
          <a:p>
            <a:pPr marL="463083" lvl="1" indent="-231542" algn="l">
              <a:lnSpc>
                <a:spcPts val="2359"/>
              </a:lnSpc>
              <a:buFont typeface="Arial"/>
              <a:buChar char="•"/>
            </a:pPr>
            <a:r>
              <a:rPr lang="en-US" sz="2144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Q1 IS THE LOWEST (~19%)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89305">
            <a:off x="16825028" y="1429891"/>
            <a:ext cx="3870256" cy="2322153"/>
          </a:xfrm>
          <a:custGeom>
            <a:avLst/>
            <a:gdLst/>
            <a:ahLst/>
            <a:cxnLst/>
            <a:rect l="l" t="t" r="r" b="b"/>
            <a:pathLst>
              <a:path w="3870256" h="2322153">
                <a:moveTo>
                  <a:pt x="0" y="0"/>
                </a:moveTo>
                <a:lnTo>
                  <a:pt x="3870255" y="0"/>
                </a:lnTo>
                <a:lnTo>
                  <a:pt x="3870255" y="2322153"/>
                </a:lnTo>
                <a:lnTo>
                  <a:pt x="0" y="2322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40080" y="5143500"/>
            <a:ext cx="2482277" cy="837768"/>
          </a:xfrm>
          <a:custGeom>
            <a:avLst/>
            <a:gdLst/>
            <a:ahLst/>
            <a:cxnLst/>
            <a:rect l="l" t="t" r="r" b="b"/>
            <a:pathLst>
              <a:path w="2482277" h="837768">
                <a:moveTo>
                  <a:pt x="0" y="0"/>
                </a:moveTo>
                <a:lnTo>
                  <a:pt x="2482277" y="0"/>
                </a:lnTo>
                <a:lnTo>
                  <a:pt x="2482277" y="837768"/>
                </a:lnTo>
                <a:lnTo>
                  <a:pt x="0" y="837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935705">
            <a:off x="17055529" y="-597206"/>
            <a:ext cx="2818696" cy="3539458"/>
          </a:xfrm>
          <a:custGeom>
            <a:avLst/>
            <a:gdLst/>
            <a:ahLst/>
            <a:cxnLst/>
            <a:rect l="l" t="t" r="r" b="b"/>
            <a:pathLst>
              <a:path w="2818696" h="3539458">
                <a:moveTo>
                  <a:pt x="0" y="0"/>
                </a:moveTo>
                <a:lnTo>
                  <a:pt x="2818696" y="0"/>
                </a:lnTo>
                <a:lnTo>
                  <a:pt x="2818696" y="3539458"/>
                </a:lnTo>
                <a:lnTo>
                  <a:pt x="0" y="3539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282823">
            <a:off x="15367039" y="7622175"/>
            <a:ext cx="3163993" cy="4328846"/>
          </a:xfrm>
          <a:custGeom>
            <a:avLst/>
            <a:gdLst/>
            <a:ahLst/>
            <a:cxnLst/>
            <a:rect l="l" t="t" r="r" b="b"/>
            <a:pathLst>
              <a:path w="3163993" h="4328846">
                <a:moveTo>
                  <a:pt x="0" y="0"/>
                </a:moveTo>
                <a:lnTo>
                  <a:pt x="3163994" y="0"/>
                </a:lnTo>
                <a:lnTo>
                  <a:pt x="3163994" y="4328846"/>
                </a:lnTo>
                <a:lnTo>
                  <a:pt x="0" y="4328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00365" y="8485864"/>
            <a:ext cx="5251977" cy="4759605"/>
          </a:xfrm>
          <a:custGeom>
            <a:avLst/>
            <a:gdLst/>
            <a:ahLst/>
            <a:cxnLst/>
            <a:rect l="l" t="t" r="r" b="b"/>
            <a:pathLst>
              <a:path w="5251977" h="4759605">
                <a:moveTo>
                  <a:pt x="0" y="0"/>
                </a:moveTo>
                <a:lnTo>
                  <a:pt x="5251978" y="0"/>
                </a:lnTo>
                <a:lnTo>
                  <a:pt x="5251978" y="4759604"/>
                </a:lnTo>
                <a:lnTo>
                  <a:pt x="0" y="475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317596" y="1299294"/>
            <a:ext cx="8167434" cy="4209693"/>
            <a:chOff x="0" y="0"/>
            <a:chExt cx="1950934" cy="10055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934" cy="1005559"/>
            </a:xfrm>
            <a:custGeom>
              <a:avLst/>
              <a:gdLst/>
              <a:ahLst/>
              <a:cxnLst/>
              <a:rect l="l" t="t" r="r" b="b"/>
              <a:pathLst>
                <a:path w="1950934" h="1005559">
                  <a:moveTo>
                    <a:pt x="11375" y="0"/>
                  </a:moveTo>
                  <a:lnTo>
                    <a:pt x="1939560" y="0"/>
                  </a:lnTo>
                  <a:cubicBezTo>
                    <a:pt x="1945842" y="0"/>
                    <a:pt x="1950934" y="5093"/>
                    <a:pt x="1950934" y="11375"/>
                  </a:cubicBezTo>
                  <a:lnTo>
                    <a:pt x="1950934" y="994184"/>
                  </a:lnTo>
                  <a:cubicBezTo>
                    <a:pt x="1950934" y="997201"/>
                    <a:pt x="1949736" y="1000094"/>
                    <a:pt x="1947603" y="1002227"/>
                  </a:cubicBezTo>
                  <a:cubicBezTo>
                    <a:pt x="1945470" y="1004360"/>
                    <a:pt x="1942576" y="1005559"/>
                    <a:pt x="1939560" y="1005559"/>
                  </a:cubicBezTo>
                  <a:lnTo>
                    <a:pt x="11375" y="1005559"/>
                  </a:lnTo>
                  <a:cubicBezTo>
                    <a:pt x="8358" y="1005559"/>
                    <a:pt x="5465" y="1004360"/>
                    <a:pt x="3332" y="1002227"/>
                  </a:cubicBezTo>
                  <a:cubicBezTo>
                    <a:pt x="1198" y="1000094"/>
                    <a:pt x="0" y="997201"/>
                    <a:pt x="0" y="994184"/>
                  </a:cubicBezTo>
                  <a:lnTo>
                    <a:pt x="0" y="11375"/>
                  </a:lnTo>
                  <a:cubicBezTo>
                    <a:pt x="0" y="8358"/>
                    <a:pt x="1198" y="5465"/>
                    <a:pt x="3332" y="3332"/>
                  </a:cubicBezTo>
                  <a:cubicBezTo>
                    <a:pt x="5465" y="1198"/>
                    <a:pt x="8358" y="0"/>
                    <a:pt x="11375" y="0"/>
                  </a:cubicBez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950934" cy="1129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420" y="1299294"/>
            <a:ext cx="8320050" cy="4263090"/>
            <a:chOff x="0" y="0"/>
            <a:chExt cx="1987389" cy="10183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7389" cy="1018314"/>
            </a:xfrm>
            <a:custGeom>
              <a:avLst/>
              <a:gdLst/>
              <a:ahLst/>
              <a:cxnLst/>
              <a:rect l="l" t="t" r="r" b="b"/>
              <a:pathLst>
                <a:path w="1987389" h="1018314">
                  <a:moveTo>
                    <a:pt x="11166" y="0"/>
                  </a:moveTo>
                  <a:lnTo>
                    <a:pt x="1976223" y="0"/>
                  </a:lnTo>
                  <a:cubicBezTo>
                    <a:pt x="1982390" y="0"/>
                    <a:pt x="1987389" y="4999"/>
                    <a:pt x="1987389" y="11166"/>
                  </a:cubicBezTo>
                  <a:lnTo>
                    <a:pt x="1987389" y="1007147"/>
                  </a:lnTo>
                  <a:cubicBezTo>
                    <a:pt x="1987389" y="1013314"/>
                    <a:pt x="1982390" y="1018314"/>
                    <a:pt x="1976223" y="1018314"/>
                  </a:cubicBezTo>
                  <a:lnTo>
                    <a:pt x="11166" y="1018314"/>
                  </a:lnTo>
                  <a:cubicBezTo>
                    <a:pt x="8205" y="1018314"/>
                    <a:pt x="5365" y="1017137"/>
                    <a:pt x="3270" y="1015043"/>
                  </a:cubicBezTo>
                  <a:cubicBezTo>
                    <a:pt x="1176" y="1012949"/>
                    <a:pt x="0" y="1010109"/>
                    <a:pt x="0" y="1007147"/>
                  </a:cubicBezTo>
                  <a:lnTo>
                    <a:pt x="0" y="11166"/>
                  </a:lnTo>
                  <a:cubicBezTo>
                    <a:pt x="0" y="4999"/>
                    <a:pt x="4999" y="0"/>
                    <a:pt x="11166" y="0"/>
                  </a:cubicBez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23825"/>
              <a:ext cx="1987389" cy="114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03011" y="2029954"/>
            <a:ext cx="7037069" cy="2735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🌍 </a:t>
            </a:r>
            <a:r>
              <a:rPr lang="en-US" sz="3010" b="1">
                <a:solidFill>
                  <a:srgbClr val="FFF6ED"/>
                </a:solidFill>
                <a:latin typeface="Lora Bold"/>
                <a:ea typeface="Lora Bold"/>
                <a:cs typeface="Lora Bold"/>
                <a:sym typeface="Lora Bold"/>
              </a:rPr>
              <a:t>Regional Expansion</a:t>
            </a:r>
          </a:p>
          <a:p>
            <a:pPr marL="650051" lvl="1" indent="-325026" algn="just">
              <a:lnSpc>
                <a:spcPts val="3673"/>
              </a:lnSpc>
              <a:buFont typeface="Arial"/>
              <a:buChar char="•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Invest more in:</a:t>
            </a:r>
          </a:p>
          <a:p>
            <a:pPr marL="1300102" lvl="2" indent="-433367" algn="just">
              <a:lnSpc>
                <a:spcPts val="3673"/>
              </a:lnSpc>
              <a:buFont typeface="Arial"/>
              <a:buChar char="⚬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Europe</a:t>
            </a:r>
          </a:p>
          <a:p>
            <a:pPr marL="1300102" lvl="2" indent="-433367" algn="just">
              <a:lnSpc>
                <a:spcPts val="3673"/>
              </a:lnSpc>
              <a:buFont typeface="Arial"/>
              <a:buChar char="⚬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Pacific regions</a:t>
            </a:r>
          </a:p>
          <a:p>
            <a:pPr marL="650051" lvl="1" indent="-325026" algn="just">
              <a:lnSpc>
                <a:spcPts val="3673"/>
              </a:lnSpc>
              <a:buFont typeface="Arial"/>
              <a:buChar char="•"/>
            </a:pPr>
            <a:r>
              <a:rPr lang="en-US" sz="3010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Use targeted marketing campaigns</a:t>
            </a:r>
          </a:p>
          <a:p>
            <a:pPr algn="just">
              <a:lnSpc>
                <a:spcPts val="3673"/>
              </a:lnSpc>
            </a:pPr>
            <a:endParaRPr lang="en-US" sz="3010">
              <a:solidFill>
                <a:srgbClr val="FFF6E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85017" y="1513467"/>
            <a:ext cx="7938770" cy="214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824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📈 </a:t>
            </a:r>
            <a:r>
              <a:rPr lang="en-US" sz="2824" b="1">
                <a:solidFill>
                  <a:srgbClr val="FFF6ED"/>
                </a:solidFill>
                <a:latin typeface="Lora Bold"/>
                <a:ea typeface="Lora Bold"/>
                <a:cs typeface="Lora Bold"/>
                <a:sym typeface="Lora Bold"/>
              </a:rPr>
              <a:t>Growth Strategy</a:t>
            </a:r>
          </a:p>
          <a:p>
            <a:pPr marL="609814" lvl="1" indent="-304907" algn="l">
              <a:lnSpc>
                <a:spcPts val="3445"/>
              </a:lnSpc>
              <a:buFont typeface="Arial"/>
              <a:buChar char="•"/>
            </a:pPr>
            <a:r>
              <a:rPr lang="en-US" sz="2824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Expand high-performing products (Bikes, Tires &amp; Tubes)</a:t>
            </a:r>
          </a:p>
          <a:p>
            <a:pPr marL="609814" lvl="1" indent="-304907" algn="l">
              <a:lnSpc>
                <a:spcPts val="3445"/>
              </a:lnSpc>
              <a:buFont typeface="Arial"/>
              <a:buChar char="•"/>
            </a:pPr>
            <a:r>
              <a:rPr lang="en-US" sz="2824">
                <a:solidFill>
                  <a:srgbClr val="FFF6ED"/>
                </a:solidFill>
                <a:latin typeface="Lora"/>
                <a:ea typeface="Lora"/>
                <a:cs typeface="Lora"/>
                <a:sym typeface="Lora"/>
              </a:rPr>
              <a:t>Introduce bundles (Bike + Accessories)</a:t>
            </a:r>
          </a:p>
          <a:p>
            <a:pPr marL="0" lvl="0" indent="0" algn="l">
              <a:lnSpc>
                <a:spcPts val="3445"/>
              </a:lnSpc>
            </a:pPr>
            <a:endParaRPr lang="en-US" sz="2824">
              <a:solidFill>
                <a:srgbClr val="FFF6E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60054" y="7596340"/>
            <a:ext cx="668646" cy="2270094"/>
          </a:xfrm>
          <a:custGeom>
            <a:avLst/>
            <a:gdLst/>
            <a:ahLst/>
            <a:cxnLst/>
            <a:rect l="l" t="t" r="r" b="b"/>
            <a:pathLst>
              <a:path w="668646" h="2270094">
                <a:moveTo>
                  <a:pt x="0" y="0"/>
                </a:moveTo>
                <a:lnTo>
                  <a:pt x="668646" y="0"/>
                </a:lnTo>
                <a:lnTo>
                  <a:pt x="668646" y="2270093"/>
                </a:lnTo>
                <a:lnTo>
                  <a:pt x="0" y="2270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73341">
            <a:off x="-1064377" y="427372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4" y="0"/>
                </a:lnTo>
                <a:lnTo>
                  <a:pt x="3423594" y="883910"/>
                </a:lnTo>
                <a:lnTo>
                  <a:pt x="0" y="883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530769" y="526014"/>
            <a:ext cx="12967317" cy="74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46"/>
              </a:lnSpc>
            </a:pPr>
            <a:r>
              <a:rPr lang="en-US" sz="5314" b="1">
                <a:solidFill>
                  <a:srgbClr val="FFF6ED"/>
                </a:solidFill>
                <a:latin typeface="Roca One Bold"/>
                <a:ea typeface="Roca One Bold"/>
                <a:cs typeface="Roca One Bold"/>
                <a:sym typeface="Roca One Bold"/>
              </a:rPr>
              <a:t> SUGGESTIONS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17596" y="5743359"/>
            <a:ext cx="8320050" cy="4263090"/>
            <a:chOff x="0" y="0"/>
            <a:chExt cx="1987389" cy="10183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87389" cy="1018314"/>
            </a:xfrm>
            <a:custGeom>
              <a:avLst/>
              <a:gdLst/>
              <a:ahLst/>
              <a:cxnLst/>
              <a:rect l="l" t="t" r="r" b="b"/>
              <a:pathLst>
                <a:path w="1987389" h="1018314">
                  <a:moveTo>
                    <a:pt x="11166" y="0"/>
                  </a:moveTo>
                  <a:lnTo>
                    <a:pt x="1976223" y="0"/>
                  </a:lnTo>
                  <a:cubicBezTo>
                    <a:pt x="1982390" y="0"/>
                    <a:pt x="1987389" y="4999"/>
                    <a:pt x="1987389" y="11166"/>
                  </a:cubicBezTo>
                  <a:lnTo>
                    <a:pt x="1987389" y="1007147"/>
                  </a:lnTo>
                  <a:cubicBezTo>
                    <a:pt x="1987389" y="1013314"/>
                    <a:pt x="1982390" y="1018314"/>
                    <a:pt x="1976223" y="1018314"/>
                  </a:cubicBezTo>
                  <a:lnTo>
                    <a:pt x="11166" y="1018314"/>
                  </a:lnTo>
                  <a:cubicBezTo>
                    <a:pt x="8205" y="1018314"/>
                    <a:pt x="5365" y="1017137"/>
                    <a:pt x="3270" y="1015043"/>
                  </a:cubicBezTo>
                  <a:cubicBezTo>
                    <a:pt x="1176" y="1012949"/>
                    <a:pt x="0" y="1010109"/>
                    <a:pt x="0" y="1007147"/>
                  </a:cubicBezTo>
                  <a:lnTo>
                    <a:pt x="0" y="11166"/>
                  </a:lnTo>
                  <a:cubicBezTo>
                    <a:pt x="0" y="4999"/>
                    <a:pt x="4999" y="0"/>
                    <a:pt x="11166" y="0"/>
                  </a:cubicBez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1987389" cy="114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4377" y="5743359"/>
            <a:ext cx="8320050" cy="4263090"/>
            <a:chOff x="0" y="0"/>
            <a:chExt cx="1987389" cy="10183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87389" cy="1018314"/>
            </a:xfrm>
            <a:custGeom>
              <a:avLst/>
              <a:gdLst/>
              <a:ahLst/>
              <a:cxnLst/>
              <a:rect l="l" t="t" r="r" b="b"/>
              <a:pathLst>
                <a:path w="1987389" h="1018314">
                  <a:moveTo>
                    <a:pt x="11166" y="0"/>
                  </a:moveTo>
                  <a:lnTo>
                    <a:pt x="1976223" y="0"/>
                  </a:lnTo>
                  <a:cubicBezTo>
                    <a:pt x="1982390" y="0"/>
                    <a:pt x="1987389" y="4999"/>
                    <a:pt x="1987389" y="11166"/>
                  </a:cubicBezTo>
                  <a:lnTo>
                    <a:pt x="1987389" y="1007147"/>
                  </a:lnTo>
                  <a:cubicBezTo>
                    <a:pt x="1987389" y="1013314"/>
                    <a:pt x="1982390" y="1018314"/>
                    <a:pt x="1976223" y="1018314"/>
                  </a:cubicBezTo>
                  <a:lnTo>
                    <a:pt x="11166" y="1018314"/>
                  </a:lnTo>
                  <a:cubicBezTo>
                    <a:pt x="8205" y="1018314"/>
                    <a:pt x="5365" y="1017137"/>
                    <a:pt x="3270" y="1015043"/>
                  </a:cubicBezTo>
                  <a:cubicBezTo>
                    <a:pt x="1176" y="1012949"/>
                    <a:pt x="0" y="1010109"/>
                    <a:pt x="0" y="1007147"/>
                  </a:cubicBezTo>
                  <a:lnTo>
                    <a:pt x="0" y="11166"/>
                  </a:lnTo>
                  <a:cubicBezTo>
                    <a:pt x="0" y="4999"/>
                    <a:pt x="4999" y="0"/>
                    <a:pt x="11166" y="0"/>
                  </a:cubicBezTo>
                  <a:close/>
                </a:path>
              </a:pathLst>
            </a:custGeom>
            <a:solidFill>
              <a:srgbClr val="46160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23825"/>
              <a:ext cx="1987389" cy="114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7829" y="6017104"/>
            <a:ext cx="7207568" cy="157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4"/>
              </a:lnSpc>
              <a:spcBef>
                <a:spcPct val="0"/>
              </a:spcBef>
            </a:pPr>
            <a:r>
              <a:rPr lang="en-US" sz="28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📅 SEASONAL OPTIMIZATION</a:t>
            </a:r>
          </a:p>
          <a:p>
            <a:pPr algn="ctr">
              <a:lnSpc>
                <a:spcPts val="3134"/>
              </a:lnSpc>
              <a:spcBef>
                <a:spcPct val="0"/>
              </a:spcBef>
            </a:pPr>
            <a:endParaRPr lang="en-US" sz="28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615158" lvl="1" indent="-307579" algn="l">
              <a:lnSpc>
                <a:spcPts val="3134"/>
              </a:lnSpc>
              <a:buFont typeface="Arial"/>
              <a:buChar char="•"/>
            </a:pPr>
            <a:r>
              <a:rPr lang="en-US" sz="284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Increase inventory before Q4</a:t>
            </a:r>
          </a:p>
          <a:p>
            <a:pPr marL="615158" lvl="1" indent="-307579" algn="l">
              <a:lnSpc>
                <a:spcPts val="3134"/>
              </a:lnSpc>
              <a:buFont typeface="Arial"/>
              <a:buChar char="•"/>
            </a:pPr>
            <a:r>
              <a:rPr lang="en-US" sz="284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Run promotions in Q1 to reduce slu</a:t>
            </a:r>
            <a:r>
              <a:rPr lang="en-US" sz="28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mp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03011" y="6400537"/>
            <a:ext cx="7656289" cy="2002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🛍️ PRODUCT STRATEGY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Diversify beyond bikes to reduce dependency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Boost low-performing categories (Clothing, Accessories)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>
              <a:solidFill>
                <a:srgbClr val="FFF6ED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317596" y="8489043"/>
            <a:ext cx="8167434" cy="133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4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💰 PROFIT OPTIMIZATION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endParaRPr lang="en-US" sz="2449" b="1">
              <a:solidFill>
                <a:srgbClr val="FFF6ED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Maintain pricing strategy (already strong margin)</a:t>
            </a:r>
          </a:p>
          <a:p>
            <a:pPr marL="528800" lvl="1" indent="-264400" algn="l">
              <a:lnSpc>
                <a:spcPts val="2694"/>
              </a:lnSpc>
              <a:buFont typeface="Arial"/>
              <a:buChar char="•"/>
            </a:pPr>
            <a:r>
              <a:rPr lang="en-US" sz="2449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Optimize production cost further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5017" y="8057739"/>
            <a:ext cx="7938770" cy="138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  <a:spcBef>
                <a:spcPct val="0"/>
              </a:spcBef>
            </a:pPr>
            <a:r>
              <a:rPr lang="en-US" sz="2486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👥 CUSTOMER STRATEGY</a:t>
            </a:r>
          </a:p>
          <a:p>
            <a:pPr marL="536856" lvl="1" indent="-268428" algn="l">
              <a:lnSpc>
                <a:spcPts val="2735"/>
              </a:lnSpc>
              <a:buFont typeface="Arial"/>
              <a:buChar char="•"/>
            </a:pPr>
            <a:r>
              <a:rPr lang="en-US" sz="2486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Loyalty programs for repeat customers</a:t>
            </a:r>
          </a:p>
          <a:p>
            <a:pPr marL="536856" lvl="1" indent="-268428" algn="l">
              <a:lnSpc>
                <a:spcPts val="2735"/>
              </a:lnSpc>
              <a:buFont typeface="Arial"/>
              <a:buChar char="•"/>
            </a:pPr>
            <a:r>
              <a:rPr lang="en-US" sz="2486">
                <a:solidFill>
                  <a:srgbClr val="FFF6ED"/>
                </a:solidFill>
                <a:latin typeface="Now"/>
                <a:ea typeface="Now"/>
                <a:cs typeface="Now"/>
                <a:sym typeface="Now"/>
              </a:rPr>
              <a:t>Personalized marketing based on buying behavior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5017" y="3677993"/>
            <a:ext cx="7938770" cy="1682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2460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🔍 DATA/BUSINESS INVESTIGATION</a:t>
            </a:r>
          </a:p>
          <a:p>
            <a:pPr marL="531212" lvl="1" indent="-265606" algn="l">
              <a:lnSpc>
                <a:spcPts val="2706"/>
              </a:lnSpc>
              <a:buFont typeface="Arial"/>
              <a:buChar char="•"/>
            </a:pPr>
            <a:r>
              <a:rPr lang="en-US" sz="2460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Analyze 2014 drop:</a:t>
            </a:r>
          </a:p>
          <a:p>
            <a:pPr marL="531212" lvl="1" indent="-265606" algn="l">
              <a:lnSpc>
                <a:spcPts val="2706"/>
              </a:lnSpc>
              <a:buFont typeface="Arial"/>
              <a:buChar char="•"/>
            </a:pPr>
            <a:r>
              <a:rPr lang="en-US" sz="2460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Missing data?</a:t>
            </a:r>
          </a:p>
          <a:p>
            <a:pPr marL="531212" lvl="1" indent="-265606" algn="l">
              <a:lnSpc>
                <a:spcPts val="2706"/>
              </a:lnSpc>
              <a:buFont typeface="Arial"/>
              <a:buChar char="•"/>
            </a:pPr>
            <a:r>
              <a:rPr lang="en-US" sz="2460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Operational issues?</a:t>
            </a:r>
          </a:p>
          <a:p>
            <a:pPr marL="531212" lvl="1" indent="-265606" algn="l">
              <a:lnSpc>
                <a:spcPts val="2706"/>
              </a:lnSpc>
              <a:buFont typeface="Arial"/>
              <a:buChar char="•"/>
            </a:pPr>
            <a:r>
              <a:rPr lang="en-US" sz="2460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Market changes?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73158" y="-775715"/>
            <a:ext cx="2490572" cy="3407499"/>
          </a:xfrm>
          <a:custGeom>
            <a:avLst/>
            <a:gdLst/>
            <a:ahLst/>
            <a:cxnLst/>
            <a:rect l="l" t="t" r="r" b="b"/>
            <a:pathLst>
              <a:path w="2490572" h="3407499">
                <a:moveTo>
                  <a:pt x="0" y="0"/>
                </a:moveTo>
                <a:lnTo>
                  <a:pt x="2490572" y="0"/>
                </a:lnTo>
                <a:lnTo>
                  <a:pt x="2490572" y="3407499"/>
                </a:lnTo>
                <a:lnTo>
                  <a:pt x="0" y="3407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90282" y="693781"/>
            <a:ext cx="16777495" cy="8899439"/>
            <a:chOff x="0" y="0"/>
            <a:chExt cx="4418764" cy="23438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18764" cy="2343885"/>
            </a:xfrm>
            <a:custGeom>
              <a:avLst/>
              <a:gdLst/>
              <a:ahLst/>
              <a:cxnLst/>
              <a:rect l="l" t="t" r="r" b="b"/>
              <a:pathLst>
                <a:path w="4418764" h="2343885">
                  <a:moveTo>
                    <a:pt x="18458" y="0"/>
                  </a:moveTo>
                  <a:lnTo>
                    <a:pt x="4400306" y="0"/>
                  </a:lnTo>
                  <a:cubicBezTo>
                    <a:pt x="4410500" y="0"/>
                    <a:pt x="4418764" y="8264"/>
                    <a:pt x="4418764" y="18458"/>
                  </a:cubicBezTo>
                  <a:lnTo>
                    <a:pt x="4418764" y="2325427"/>
                  </a:lnTo>
                  <a:cubicBezTo>
                    <a:pt x="4418764" y="2335621"/>
                    <a:pt x="4410500" y="2343885"/>
                    <a:pt x="4400306" y="2343885"/>
                  </a:cubicBezTo>
                  <a:lnTo>
                    <a:pt x="18458" y="2343885"/>
                  </a:lnTo>
                  <a:cubicBezTo>
                    <a:pt x="8264" y="2343885"/>
                    <a:pt x="0" y="2335621"/>
                    <a:pt x="0" y="2325427"/>
                  </a:cubicBezTo>
                  <a:lnTo>
                    <a:pt x="0" y="18458"/>
                  </a:lnTo>
                  <a:cubicBezTo>
                    <a:pt x="0" y="8264"/>
                    <a:pt x="8264" y="0"/>
                    <a:pt x="18458" y="0"/>
                  </a:cubicBezTo>
                  <a:close/>
                </a:path>
              </a:pathLst>
            </a:custGeom>
            <a:solidFill>
              <a:srgbClr val="46160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4418764" cy="23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96391" y="2762837"/>
            <a:ext cx="13969510" cy="6495463"/>
            <a:chOff x="0" y="0"/>
            <a:chExt cx="3679212" cy="17107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79212" cy="1710739"/>
            </a:xfrm>
            <a:custGeom>
              <a:avLst/>
              <a:gdLst/>
              <a:ahLst/>
              <a:cxnLst/>
              <a:rect l="l" t="t" r="r" b="b"/>
              <a:pathLst>
                <a:path w="3679212" h="1710739">
                  <a:moveTo>
                    <a:pt x="22168" y="0"/>
                  </a:moveTo>
                  <a:lnTo>
                    <a:pt x="3657044" y="0"/>
                  </a:lnTo>
                  <a:cubicBezTo>
                    <a:pt x="3662924" y="0"/>
                    <a:pt x="3668562" y="2336"/>
                    <a:pt x="3672719" y="6493"/>
                  </a:cubicBezTo>
                  <a:cubicBezTo>
                    <a:pt x="3676877" y="10650"/>
                    <a:pt x="3679212" y="16289"/>
                    <a:pt x="3679212" y="22168"/>
                  </a:cubicBezTo>
                  <a:lnTo>
                    <a:pt x="3679212" y="1688571"/>
                  </a:lnTo>
                  <a:cubicBezTo>
                    <a:pt x="3679212" y="1700814"/>
                    <a:pt x="3669287" y="1710739"/>
                    <a:pt x="3657044" y="1710739"/>
                  </a:cubicBezTo>
                  <a:lnTo>
                    <a:pt x="22168" y="1710739"/>
                  </a:lnTo>
                  <a:cubicBezTo>
                    <a:pt x="16289" y="1710739"/>
                    <a:pt x="10650" y="1708404"/>
                    <a:pt x="6493" y="1704246"/>
                  </a:cubicBezTo>
                  <a:cubicBezTo>
                    <a:pt x="2336" y="1700089"/>
                    <a:pt x="0" y="1694450"/>
                    <a:pt x="0" y="1688571"/>
                  </a:cubicBezTo>
                  <a:lnTo>
                    <a:pt x="0" y="22168"/>
                  </a:lnTo>
                  <a:cubicBezTo>
                    <a:pt x="0" y="16289"/>
                    <a:pt x="2336" y="10650"/>
                    <a:pt x="6493" y="6493"/>
                  </a:cubicBezTo>
                  <a:cubicBezTo>
                    <a:pt x="10650" y="2336"/>
                    <a:pt x="16289" y="0"/>
                    <a:pt x="22168" y="0"/>
                  </a:cubicBezTo>
                  <a:close/>
                </a:path>
              </a:pathLst>
            </a:custGeom>
            <a:solidFill>
              <a:srgbClr val="7A433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3679212" cy="1682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23421" y="7799020"/>
            <a:ext cx="668646" cy="2270094"/>
          </a:xfrm>
          <a:custGeom>
            <a:avLst/>
            <a:gdLst/>
            <a:ahLst/>
            <a:cxnLst/>
            <a:rect l="l" t="t" r="r" b="b"/>
            <a:pathLst>
              <a:path w="668646" h="2270094">
                <a:moveTo>
                  <a:pt x="0" y="0"/>
                </a:moveTo>
                <a:lnTo>
                  <a:pt x="668645" y="0"/>
                </a:lnTo>
                <a:lnTo>
                  <a:pt x="668645" y="2270094"/>
                </a:lnTo>
                <a:lnTo>
                  <a:pt x="0" y="2270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85886" y="2762837"/>
            <a:ext cx="2482277" cy="837768"/>
          </a:xfrm>
          <a:custGeom>
            <a:avLst/>
            <a:gdLst/>
            <a:ahLst/>
            <a:cxnLst/>
            <a:rect l="l" t="t" r="r" b="b"/>
            <a:pathLst>
              <a:path w="2482277" h="837768">
                <a:moveTo>
                  <a:pt x="0" y="0"/>
                </a:moveTo>
                <a:lnTo>
                  <a:pt x="2482277" y="0"/>
                </a:lnTo>
                <a:lnTo>
                  <a:pt x="2482277" y="837769"/>
                </a:lnTo>
                <a:lnTo>
                  <a:pt x="0" y="837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60342" y="1748063"/>
            <a:ext cx="12967317" cy="74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46"/>
              </a:lnSpc>
            </a:pPr>
            <a:r>
              <a:rPr lang="en-US" sz="5314" b="1">
                <a:solidFill>
                  <a:srgbClr val="FFF6ED"/>
                </a:solidFill>
                <a:latin typeface="Roca One Bold"/>
                <a:ea typeface="Roca One Bold"/>
                <a:cs typeface="Roca One Bold"/>
                <a:sym typeface="Roca One Bold"/>
              </a:rPr>
              <a:t> 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2948" y="4156397"/>
            <a:ext cx="13404710" cy="365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32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The business experienced rapid growth until 2013, driven mainly by bike sales.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32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Profitability is strong, with a high margin of 41%.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32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Sales are seasonal, peaking in Q4.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32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North America leads, but other regions show potential.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32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A sharp drop in 2014 needs investigation.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3249" b="1">
                <a:solidFill>
                  <a:srgbClr val="FFF6ED"/>
                </a:solidFill>
                <a:latin typeface="Now Bold"/>
                <a:ea typeface="Now Bold"/>
                <a:cs typeface="Now Bold"/>
                <a:sym typeface="Now Bold"/>
              </a:rPr>
              <a:t>Product portfolio is heavily dependent on bikes, which is both a strength and a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1021</Words>
  <Application>Microsoft Office PowerPoint</Application>
  <PresentationFormat>Custom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Now</vt:lpstr>
      <vt:lpstr>Now Bold</vt:lpstr>
      <vt:lpstr>Lora Bold</vt:lpstr>
      <vt:lpstr>Roca One Bold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DDL and DML Commands in MySQL</dc:title>
  <dc:creator>Suchitra U Savant</dc:creator>
  <dc:description>Presentation - DDL and DML Commands in MySQL</dc:description>
  <cp:lastModifiedBy>suchitra618@outlook.com</cp:lastModifiedBy>
  <cp:revision>3</cp:revision>
  <dcterms:created xsi:type="dcterms:W3CDTF">2006-08-16T00:00:00Z</dcterms:created>
  <dcterms:modified xsi:type="dcterms:W3CDTF">2026-03-29T18:31:23Z</dcterms:modified>
  <dc:identifier>DAGypgM02ig</dc:identifier>
</cp:coreProperties>
</file>